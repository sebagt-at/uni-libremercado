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Implementado</c:v>
          </c:tx>
          <c:spPr>
            <a:solidFill>
              <a:srgbClr val="0B5FFF"/>
            </a:solidFill>
          </c:spPr>
          <c:invertIfNegative val="1"/>
          <c:dLbls>
            <c:delete val="1"/>
          </c:dLbls>
          <c:cat>
            <c:strLit>
              <c:ptCount val="5"/>
              <c:pt idx="0">
                <c:v>Login</c:v>
              </c:pt>
              <c:pt idx="1">
                <c:v>Dashboard</c:v>
              </c:pt>
              <c:pt idx="2">
                <c:v>CRUDs</c:v>
              </c:pt>
              <c:pt idx="3">
                <c:v>Compras</c:v>
              </c:pt>
              <c:pt idx="4">
                <c:v>Ventas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9</c:v>
              </c:pt>
              <c:pt idx="3">
                <c:v>1</c:v>
              </c:pt>
              <c:pt idx="4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328-4407-8440-E34658BC84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CBD5E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CL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F94F82-B36B-4054-9C0E-F0561D32D8B4}"/>
              </a:ext>
            </a:extLst>
          </p:cNvPr>
          <p:cNvSpPr>
            <a:spLocks noGrp="1"/>
          </p:cNvSpPr>
          <p:nvPr/>
        </p:nvSpPr>
        <p:spPr>
          <a:xfrm>
            <a:off x="7334250" y="800100"/>
            <a:ext cx="3714750" cy="521970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C7BC43-1F07-4396-9C12-F87E15D94B2C}"/>
              </a:ext>
            </a:extLst>
          </p:cNvPr>
          <p:cNvSpPr>
            <a:spLocks noGrp="1"/>
          </p:cNvSpPr>
          <p:nvPr/>
        </p:nvSpPr>
        <p:spPr>
          <a:xfrm>
            <a:off x="7810500" y="1371600"/>
            <a:ext cx="276225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075A3-5E25-4742-8EEB-96D690A3C53F}"/>
              </a:ext>
            </a:extLst>
          </p:cNvPr>
          <p:cNvSpPr>
            <a:spLocks noGrp="1"/>
          </p:cNvSpPr>
          <p:nvPr/>
        </p:nvSpPr>
        <p:spPr>
          <a:xfrm>
            <a:off x="8096250" y="16192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3 NODOS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9F5F6F-AB12-4BE1-B022-AD5E2625C709}"/>
              </a:ext>
            </a:extLst>
          </p:cNvPr>
          <p:cNvSpPr>
            <a:spLocks noGrp="1"/>
          </p:cNvSpPr>
          <p:nvPr/>
        </p:nvSpPr>
        <p:spPr>
          <a:xfrm>
            <a:off x="8096250" y="20383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Arquitectura distribuida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E0D9A8-058E-4F68-8429-42E1FE1C197B}"/>
              </a:ext>
            </a:extLst>
          </p:cNvPr>
          <p:cNvSpPr>
            <a:spLocks noGrp="1"/>
          </p:cNvSpPr>
          <p:nvPr/>
        </p:nvSpPr>
        <p:spPr>
          <a:xfrm>
            <a:off x="7639050" y="2857500"/>
            <a:ext cx="31051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D2808-9726-4287-B44C-1A485C2F408F}"/>
              </a:ext>
            </a:extLst>
          </p:cNvPr>
          <p:cNvSpPr>
            <a:spLocks noGrp="1"/>
          </p:cNvSpPr>
          <p:nvPr/>
        </p:nvSpPr>
        <p:spPr>
          <a:xfrm>
            <a:off x="7905750" y="31051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91CCA2-FB15-4F32-B877-7AB417CD6B8B}"/>
              </a:ext>
            </a:extLst>
          </p:cNvPr>
          <p:cNvSpPr>
            <a:spLocks noGrp="1"/>
          </p:cNvSpPr>
          <p:nvPr/>
        </p:nvSpPr>
        <p:spPr>
          <a:xfrm>
            <a:off x="7905750" y="3543300"/>
            <a:ext cx="2381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PHP puro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PDO + MySQL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Docker y XAMPP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Bootstrap 5 + Git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647E7-E1F0-403F-8029-19A936FA28D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B5FFF"/>
                </a:solidFill>
              </a:defRPr>
            </a:pPr>
            <a:r>
              <a:rPr sz="975" b="1">
                <a:solidFill>
                  <a:srgbClr val="0B5FFF"/>
                </a:solidFill>
              </a:rPr>
              <a:t>EVALUACION DE SISTEMAS DISTRIBUIDOS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A0B0C-DC98-4843-BA87-CCC0412BEFA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71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Libre Mercado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5CB7F0-9048-47AD-A379-8A2BEFB08F5F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5524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475569"/>
                </a:solidFill>
              </a:defRPr>
            </a:pPr>
            <a:r>
              <a:rPr sz="1725">
                <a:solidFill>
                  <a:srgbClr val="475569"/>
                </a:solidFill>
              </a:rPr>
              <a:t>Sistema de comercio electronico distribuido con CRUD completo, autenticacion segura, transacciones ACID y enfoque CAP de tipo CP.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36B7B0-ACC7-4A9E-ABAD-029239B24BF5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14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Objetivo de la exposicion: mostrar como funciona el proyecto completo y justificar sus decisiones tecnicas.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00080-2A6A-4CC7-83AF-B5346F0EBF1B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Proyecto listo para demo con Docker, XAMPP, Git y cliente DB</a:t>
            </a:r>
          </a:p>
        </p:txBody>
      </p:sp>
    </p:spTree>
    <p:extLst>
      <p:ext uri="{BB962C8B-B14F-4D97-AF65-F5344CB8AC3E}">
        <p14:creationId xmlns:p14="http://schemas.microsoft.com/office/powerpoint/2010/main" val="4403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4C20F40-0C8D-4752-AD0E-1203D2D2FBF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D65F5-FD05-44D3-B9E8-9710C81C305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Problema, objetivo y stack de desarrollo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898A1-9A9A-4689-9275-0CF88C48354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2AF9D4-178A-452C-9EA6-2CE20D53842C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086350" cy="42862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E9734E-8869-4362-B092-97601C26F109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Problema a resolver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6A25E-A174-47A2-A215-4A47CF71D282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428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Centralizar modulos de un e-commerce academico.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Evitar inconsistencias entre stock y ventas.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Simular distribucion real con varios nodos.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F3800-7504-48B2-989E-864CD4514E0B}"/>
              </a:ext>
            </a:extLst>
          </p:cNvPr>
          <p:cNvSpPr>
            <a:spLocks noGrp="1"/>
          </p:cNvSpPr>
          <p:nvPr/>
        </p:nvSpPr>
        <p:spPr>
          <a:xfrm>
            <a:off x="933449" y="3810000"/>
            <a:ext cx="247649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 dirty="0" err="1">
                <a:solidFill>
                  <a:srgbClr val="0F172A"/>
                </a:solidFill>
              </a:rPr>
              <a:t>Objetivo</a:t>
            </a:r>
            <a:r>
              <a:rPr sz="1950" b="1" dirty="0">
                <a:solidFill>
                  <a:srgbClr val="0F172A"/>
                </a:solidFill>
              </a:rPr>
              <a:t> del </a:t>
            </a:r>
            <a:r>
              <a:rPr sz="1950" b="1" dirty="0" err="1">
                <a:solidFill>
                  <a:srgbClr val="0F172A"/>
                </a:solidFill>
              </a:rPr>
              <a:t>proyecto</a:t>
            </a:r>
            <a:endParaRPr sz="1950" b="1" dirty="0">
              <a:solidFill>
                <a:srgbClr val="0F172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7CABC-A79D-4546-8FDE-121CCF0F0F08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428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Cumplir toda la rubrica.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Entregar una aplicacion funcional, segura y documentada.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Defender ACID, CAP y flujo distribuido.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1E567C-9F10-42A7-A846-05003B75C59F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5410200" cy="4286250"/>
          </a:xfrm>
          <a:prstGeom prst="roundRect">
            <a:avLst>
              <a:gd name="adj" fmla="val 3556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3BA024-1F0E-4EA0-8404-63F388C6495B}"/>
              </a:ext>
            </a:extLst>
          </p:cNvPr>
          <p:cNvSpPr>
            <a:spLocks noGrp="1"/>
          </p:cNvSpPr>
          <p:nvPr/>
        </p:nvSpPr>
        <p:spPr>
          <a:xfrm>
            <a:off x="6362700" y="16954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 dirty="0">
                <a:solidFill>
                  <a:srgbClr val="0F172A"/>
                </a:solidFill>
              </a:rPr>
              <a:t>Stack </a:t>
            </a:r>
            <a:r>
              <a:rPr sz="1950" b="1" dirty="0" err="1">
                <a:solidFill>
                  <a:srgbClr val="0F172A"/>
                </a:solidFill>
              </a:rPr>
              <a:t>implementado</a:t>
            </a:r>
            <a:endParaRPr sz="1950" b="1" dirty="0">
              <a:solidFill>
                <a:srgbClr val="0F172A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34C85D-6A7A-4A27-8EE6-0C2B074FE0D0}"/>
              </a:ext>
            </a:extLst>
          </p:cNvPr>
          <p:cNvSpPr>
            <a:spLocks noGrp="1"/>
          </p:cNvSpPr>
          <p:nvPr/>
        </p:nvSpPr>
        <p:spPr>
          <a:xfrm>
            <a:off x="6362700" y="23622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3A473-39B2-4B76-8961-E529C6CB20C1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PHP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E1F155-F56E-40E8-A65B-F665274D2629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Backend puro y MVC simple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C79891-80BD-4A3B-A85F-F0B730536E72}"/>
              </a:ext>
            </a:extLst>
          </p:cNvPr>
          <p:cNvSpPr>
            <a:spLocks noGrp="1"/>
          </p:cNvSpPr>
          <p:nvPr/>
        </p:nvSpPr>
        <p:spPr>
          <a:xfrm>
            <a:off x="8039100" y="23622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9D4BCD-6181-4DF9-BC77-F27681FD0BF6}"/>
              </a:ext>
            </a:extLst>
          </p:cNvPr>
          <p:cNvSpPr>
            <a:spLocks noGrp="1"/>
          </p:cNvSpPr>
          <p:nvPr/>
        </p:nvSpPr>
        <p:spPr>
          <a:xfrm>
            <a:off x="8229600" y="2533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 dirty="0">
                <a:solidFill>
                  <a:srgbClr val="0F172A"/>
                </a:solidFill>
              </a:rPr>
              <a:t>PDO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3116D-EC16-4BDB-9A67-6F32ACAED2CD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 dirty="0">
                <a:solidFill>
                  <a:srgbClr val="475569"/>
                </a:solidFill>
              </a:rPr>
              <a:t>Prepared statements y TX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E6FF24-AA89-404B-87EB-07C4B253BF0F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6F25EE-2911-48ED-80EF-3909F5380B2E}"/>
              </a:ext>
            </a:extLst>
          </p:cNvPr>
          <p:cNvSpPr>
            <a:spLocks noGrp="1"/>
          </p:cNvSpPr>
          <p:nvPr/>
        </p:nvSpPr>
        <p:spPr>
          <a:xfrm>
            <a:off x="9886950" y="2533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 dirty="0">
                <a:solidFill>
                  <a:srgbClr val="0F172A"/>
                </a:solidFill>
              </a:rPr>
              <a:t>MySQL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F8417E-1F6A-414A-A931-9441269A2F69}"/>
              </a:ext>
            </a:extLst>
          </p:cNvPr>
          <p:cNvSpPr>
            <a:spLocks noGrp="1"/>
          </p:cNvSpPr>
          <p:nvPr/>
        </p:nvSpPr>
        <p:spPr>
          <a:xfrm>
            <a:off x="9906000" y="291465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Tres bases de datos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DD9FC5-0DB2-41ED-8A0C-83984BC91DBD}"/>
              </a:ext>
            </a:extLst>
          </p:cNvPr>
          <p:cNvSpPr>
            <a:spLocks noGrp="1"/>
          </p:cNvSpPr>
          <p:nvPr/>
        </p:nvSpPr>
        <p:spPr>
          <a:xfrm>
            <a:off x="6362700" y="37338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15C39-E9DD-4BE0-A6F2-313A461E1945}"/>
              </a:ext>
            </a:extLst>
          </p:cNvPr>
          <p:cNvSpPr>
            <a:spLocks noGrp="1"/>
          </p:cNvSpPr>
          <p:nvPr/>
        </p:nvSpPr>
        <p:spPr>
          <a:xfrm>
            <a:off x="6553200" y="39052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Docker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68700F-FF5D-4368-A85F-4270C3631724}"/>
              </a:ext>
            </a:extLst>
          </p:cNvPr>
          <p:cNvSpPr>
            <a:spLocks noGrp="1"/>
          </p:cNvSpPr>
          <p:nvPr/>
        </p:nvSpPr>
        <p:spPr>
          <a:xfrm>
            <a:off x="6553200" y="428625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Entorno reproducible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CC2C99-23D0-4FAF-8228-B0DEFC95A4BD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D4070-90A6-42FD-97AB-E6A4CF65FBB8}"/>
              </a:ext>
            </a:extLst>
          </p:cNvPr>
          <p:cNvSpPr>
            <a:spLocks noGrp="1"/>
          </p:cNvSpPr>
          <p:nvPr/>
        </p:nvSpPr>
        <p:spPr>
          <a:xfrm>
            <a:off x="8229600" y="3905249"/>
            <a:ext cx="12954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 dirty="0">
                <a:solidFill>
                  <a:srgbClr val="0F172A"/>
                </a:solidFill>
              </a:rPr>
              <a:t>XAMPP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0C35DA-8F94-422F-8E39-EAF7D23F9F48}"/>
              </a:ext>
            </a:extLst>
          </p:cNvPr>
          <p:cNvSpPr>
            <a:spLocks noGrp="1"/>
          </p:cNvSpPr>
          <p:nvPr/>
        </p:nvSpPr>
        <p:spPr>
          <a:xfrm>
            <a:off x="8229600" y="428625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 dirty="0" err="1">
                <a:solidFill>
                  <a:srgbClr val="475569"/>
                </a:solidFill>
              </a:rPr>
              <a:t>Ejecucion</a:t>
            </a:r>
            <a:r>
              <a:rPr sz="1200" dirty="0">
                <a:solidFill>
                  <a:srgbClr val="475569"/>
                </a:solidFill>
              </a:rPr>
              <a:t> local </a:t>
            </a:r>
            <a:r>
              <a:rPr sz="1200" dirty="0" err="1">
                <a:solidFill>
                  <a:srgbClr val="475569"/>
                </a:solidFill>
              </a:rPr>
              <a:t>clasica</a:t>
            </a:r>
            <a:endParaRPr sz="1200" dirty="0">
              <a:solidFill>
                <a:srgbClr val="475569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1A5B19-4ACD-4450-BCF9-51FA3980859D}"/>
              </a:ext>
            </a:extLst>
          </p:cNvPr>
          <p:cNvSpPr>
            <a:spLocks noGrp="1"/>
          </p:cNvSpPr>
          <p:nvPr/>
        </p:nvSpPr>
        <p:spPr>
          <a:xfrm>
            <a:off x="9715500" y="3733800"/>
            <a:ext cx="152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9512DA-01C9-4399-BFF0-722D101254C5}"/>
              </a:ext>
            </a:extLst>
          </p:cNvPr>
          <p:cNvSpPr>
            <a:spLocks noGrp="1"/>
          </p:cNvSpPr>
          <p:nvPr/>
        </p:nvSpPr>
        <p:spPr>
          <a:xfrm>
            <a:off x="9906000" y="39052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Git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CD7D63-0212-432D-A386-C52CB1A0B861}"/>
              </a:ext>
            </a:extLst>
          </p:cNvPr>
          <p:cNvSpPr>
            <a:spLocks noGrp="1"/>
          </p:cNvSpPr>
          <p:nvPr/>
        </p:nvSpPr>
        <p:spPr>
          <a:xfrm>
            <a:off x="9906000" y="428625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Versionado por fases</a:t>
            </a:r>
          </a:p>
        </p:txBody>
      </p:sp>
    </p:spTree>
    <p:extLst>
      <p:ext uri="{BB962C8B-B14F-4D97-AF65-F5344CB8AC3E}">
        <p14:creationId xmlns:p14="http://schemas.microsoft.com/office/powerpoint/2010/main" val="1684538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B42CD51-1843-4F84-B309-7EFFA769310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ADE48-273A-4824-8AC5-8BC99C39546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Arquitectura distribuida: 3 nodos y 3 conexiones PDO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85EFAD-1860-419E-9194-B9922C9C762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F219B6-7FC2-49AE-877F-A1720AEA3CA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333750" cy="238125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E710A-6418-4457-91CF-8A161BFF6A74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Nodo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D5C11-F154-4146-A818-C19772E339F7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Base: libre_mercado_productos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2EFD5-D576-4429-96CD-E81860D8FC1E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29146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Productos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Sucursales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Stock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Inventario por sede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5B6E2D-590F-4589-BE10-F93B19304CA3}"/>
              </a:ext>
            </a:extLst>
          </p:cNvPr>
          <p:cNvSpPr>
            <a:spLocks noGrp="1"/>
          </p:cNvSpPr>
          <p:nvPr/>
        </p:nvSpPr>
        <p:spPr>
          <a:xfrm>
            <a:off x="4429125" y="1809750"/>
            <a:ext cx="3333750" cy="2381250"/>
          </a:xfrm>
          <a:prstGeom prst="roundRect">
            <a:avLst>
              <a:gd name="adj" fmla="val 6400"/>
            </a:avLst>
          </a:prstGeom>
          <a:solidFill>
            <a:srgbClr val="F3E8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E8A73-7CB0-4C1E-A4EA-34AAE3E542B3}"/>
              </a:ext>
            </a:extLst>
          </p:cNvPr>
          <p:cNvSpPr>
            <a:spLocks noGrp="1"/>
          </p:cNvSpPr>
          <p:nvPr/>
        </p:nvSpPr>
        <p:spPr>
          <a:xfrm>
            <a:off x="4638675" y="19621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Nodo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3B11F9-FA82-4ACF-A8FC-901C1D462A20}"/>
              </a:ext>
            </a:extLst>
          </p:cNvPr>
          <p:cNvSpPr>
            <a:spLocks noGrp="1"/>
          </p:cNvSpPr>
          <p:nvPr/>
        </p:nvSpPr>
        <p:spPr>
          <a:xfrm>
            <a:off x="4638675" y="22860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Base: libre_mercado_clientes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8993CE-1268-4C24-8265-E2D1D586CF16}"/>
              </a:ext>
            </a:extLst>
          </p:cNvPr>
          <p:cNvSpPr>
            <a:spLocks noGrp="1"/>
          </p:cNvSpPr>
          <p:nvPr/>
        </p:nvSpPr>
        <p:spPr>
          <a:xfrm>
            <a:off x="4638675" y="2686050"/>
            <a:ext cx="29146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Usuarios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Clientes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Autenticacion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Roles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D69C77-91D9-466B-8100-496A22E65606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3333750" cy="2381250"/>
          </a:xfrm>
          <a:prstGeom prst="roundRect">
            <a:avLst>
              <a:gd name="adj" fmla="val 6400"/>
            </a:avLst>
          </a:prstGeom>
          <a:solidFill>
            <a:srgbClr val="ECFDF3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1CE14-30DC-412F-A18B-D089B35BA4FA}"/>
              </a:ext>
            </a:extLst>
          </p:cNvPr>
          <p:cNvSpPr>
            <a:spLocks noGrp="1"/>
          </p:cNvSpPr>
          <p:nvPr/>
        </p:nvSpPr>
        <p:spPr>
          <a:xfrm>
            <a:off x="8382000" y="19621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Nodo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4BAFDB-3307-4948-AE2D-63CC53C08FCE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Base: libre_mercado_ventas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FBA770-88ED-4CD2-896B-FD55B8421888}"/>
              </a:ext>
            </a:extLst>
          </p:cNvPr>
          <p:cNvSpPr>
            <a:spLocks noGrp="1"/>
          </p:cNvSpPr>
          <p:nvPr/>
        </p:nvSpPr>
        <p:spPr>
          <a:xfrm>
            <a:off x="8382000" y="2686050"/>
            <a:ext cx="29146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Compras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Carritos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Ventas</a:t>
            </a:r>
          </a:p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distributed_transactions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CD9FF-5699-474A-9CA5-B0408BD72046}"/>
              </a:ext>
            </a:extLst>
          </p:cNvPr>
          <p:cNvSpPr>
            <a:spLocks noGrp="1"/>
          </p:cNvSpPr>
          <p:nvPr/>
        </p:nvSpPr>
        <p:spPr>
          <a:xfrm>
            <a:off x="4019550" y="2933700"/>
            <a:ext cx="419100" cy="38100"/>
          </a:xfrm>
          <a:prstGeom prst="rect">
            <a:avLst/>
          </a:prstGeom>
          <a:solidFill>
            <a:srgbClr val="0B5FFF"/>
          </a:solidFill>
          <a:ln w="0">
            <a:solidFill>
              <a:srgbClr val="0B5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67D539-5ED7-45CB-A125-7E884E518303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419100" cy="38100"/>
          </a:xfrm>
          <a:prstGeom prst="rect">
            <a:avLst/>
          </a:prstGeom>
          <a:solidFill>
            <a:srgbClr val="0B5FFF"/>
          </a:solidFill>
          <a:ln w="0">
            <a:solidFill>
              <a:srgbClr val="0B5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AB4656-66E2-44D8-B64F-F80373548216}"/>
              </a:ext>
            </a:extLst>
          </p:cNvPr>
          <p:cNvSpPr>
            <a:spLocks noGrp="1"/>
          </p:cNvSpPr>
          <p:nvPr/>
        </p:nvSpPr>
        <p:spPr>
          <a:xfrm>
            <a:off x="1581150" y="4686300"/>
            <a:ext cx="90297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8A3B7-472F-4327-A955-D9F765D79E15}"/>
              </a:ext>
            </a:extLst>
          </p:cNvPr>
          <p:cNvSpPr>
            <a:spLocks noGrp="1"/>
          </p:cNvSpPr>
          <p:nvPr/>
        </p:nvSpPr>
        <p:spPr>
          <a:xfrm>
            <a:off x="1847850" y="4953000"/>
            <a:ext cx="8496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La aplicacion web coordina los nodos desde PHP. Cada modelo usa la conexion que corresponde a su dominio y, en operaciones criticas, sincroniza cambios entre nodos.</a:t>
            </a:r>
          </a:p>
        </p:txBody>
      </p:sp>
    </p:spTree>
    <p:extLst>
      <p:ext uri="{BB962C8B-B14F-4D97-AF65-F5344CB8AC3E}">
        <p14:creationId xmlns:p14="http://schemas.microsoft.com/office/powerpoint/2010/main" val="144423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39842B-6ED3-43AC-BE40-ABAF56EAB0B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419999-81BD-4732-99E4-1C87DB07421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Modelo de datos y modulos cubiertos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745DF-E92C-47F7-B1FF-F6981E6A7EA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16E6CC-58F7-4370-A013-C4F5F649F9D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219700" cy="417195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7D229-B4B9-4FAB-921E-CCC43E93F0AA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CRUD implementados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178AE-072F-480D-8288-C1EA69FDFCA4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4514850" cy="255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Productos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Usuarios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Clientes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Sucursales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Stock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Proveedores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Compras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Carritos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Ventas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77EF72-85D7-437E-832A-63BA3920FB18}"/>
              </a:ext>
            </a:extLst>
          </p:cNvPr>
          <p:cNvSpPr>
            <a:spLocks noGrp="1"/>
          </p:cNvSpPr>
          <p:nvPr/>
        </p:nvSpPr>
        <p:spPr>
          <a:xfrm>
            <a:off x="6286500" y="1638300"/>
            <a:ext cx="5219700" cy="417195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DF25D-BA05-4198-A85A-6465C4B61D9C}"/>
              </a:ext>
            </a:extLst>
          </p:cNvPr>
          <p:cNvSpPr>
            <a:spLocks noGrp="1"/>
          </p:cNvSpPr>
          <p:nvPr/>
        </p:nvSpPr>
        <p:spPr>
          <a:xfrm>
            <a:off x="6553200" y="1885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Reglas de datos clave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DEF689-A272-4D7A-B2A1-70464D85D713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4767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Productos y usuarios usan borrado logico.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Stock se controla por producto y sucursal.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Compras incrementan inventario.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Ventas descuentan inventario.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Las tablas detalle entregan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93793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548B979-D102-4884-8B75-C1DFB6AF7A0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2ED64-292E-483D-B069-4D414F6FA34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Interfaz y experiencia de usuario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1703F-F659-45DA-96BA-838717AFFDB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25D218-8BE0-428A-999D-848CCC8265C2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429000" cy="411480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0D111-D509-4DAE-BDF1-ACE57E802735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Frontend solicitado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574B0-4F7F-4A9C-B427-284DAC7B260E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813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Bootstrap 5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Navbar dinamica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Tablas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Formularios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Boton volver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Alertas de exito y error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13C194-59A5-4DA4-9C45-4A7310D32D9B}"/>
              </a:ext>
            </a:extLst>
          </p:cNvPr>
          <p:cNvSpPr>
            <a:spLocks noGrp="1"/>
          </p:cNvSpPr>
          <p:nvPr/>
        </p:nvSpPr>
        <p:spPr>
          <a:xfrm>
            <a:off x="4438650" y="1638300"/>
            <a:ext cx="7067550" cy="41148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5B0EE-C2EC-4DD7-84EE-C570EED086ED}"/>
              </a:ext>
            </a:extLst>
          </p:cNvPr>
          <p:cNvSpPr>
            <a:spLocks noGrp="1"/>
          </p:cNvSpPr>
          <p:nvPr/>
        </p:nvSpPr>
        <p:spPr>
          <a:xfrm>
            <a:off x="4705350" y="1885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Pantallas principales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4895850" y="2400300"/>
          <a:ext cx="47625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9B19C37-A6D1-45E9-992D-6D09B152A55F}"/>
              </a:ext>
            </a:extLst>
          </p:cNvPr>
          <p:cNvSpPr>
            <a:spLocks noGrp="1"/>
          </p:cNvSpPr>
          <p:nvPr/>
        </p:nvSpPr>
        <p:spPr>
          <a:xfrm>
            <a:off x="9886950" y="2495550"/>
            <a:ext cx="133350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Cada pagina actua como controlador liviano y reutiliza modelos separados para acceso a datos.</a:t>
            </a:r>
          </a:p>
        </p:txBody>
      </p:sp>
    </p:spTree>
    <p:extLst>
      <p:ext uri="{BB962C8B-B14F-4D97-AF65-F5344CB8AC3E}">
        <p14:creationId xmlns:p14="http://schemas.microsoft.com/office/powerpoint/2010/main" val="43827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5440ECB-85B9-4429-8B51-7BFD4212EE3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C1D4EC-1B5F-4518-94C1-B9300518769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Seguridad y autenticacion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591A5A-D045-43FA-B473-A29CA0475B1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FF0FC5-104A-4563-B79C-F06781BCA816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81250" cy="1104900"/>
          </a:xfrm>
          <a:prstGeom prst="roundRect">
            <a:avLst>
              <a:gd name="adj" fmla="val 13793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6C13C-D244-46F8-84DB-BC20BD31F45C}"/>
              </a:ext>
            </a:extLst>
          </p:cNvPr>
          <p:cNvSpPr>
            <a:spLocks noGrp="1"/>
          </p:cNvSpPr>
          <p:nvPr/>
        </p:nvSpPr>
        <p:spPr>
          <a:xfrm>
            <a:off x="876299" y="1943100"/>
            <a:ext cx="26955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1600" b="1" dirty="0">
                <a:solidFill>
                  <a:srgbClr val="0F172A"/>
                </a:solidFill>
              </a:rPr>
              <a:t>ADMIN / CLIENTE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D18C4-526D-4672-B246-7E25387D8F54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Roles por sesion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A6B1FE-BCF5-4242-AF47-2D1BE302E97F}"/>
              </a:ext>
            </a:extLst>
          </p:cNvPr>
          <p:cNvSpPr>
            <a:spLocks noGrp="1"/>
          </p:cNvSpPr>
          <p:nvPr/>
        </p:nvSpPr>
        <p:spPr>
          <a:xfrm>
            <a:off x="3219450" y="1771650"/>
            <a:ext cx="2381250" cy="1104900"/>
          </a:xfrm>
          <a:prstGeom prst="roundRect">
            <a:avLst>
              <a:gd name="adj" fmla="val 13793"/>
            </a:avLst>
          </a:prstGeom>
          <a:solidFill>
            <a:srgbClr val="F3E8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471E23-3220-40C0-98F5-52B42B3C57E1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1600" b="1" dirty="0" err="1">
                <a:solidFill>
                  <a:srgbClr val="0F172A"/>
                </a:solidFill>
              </a:rPr>
              <a:t>password_hash</a:t>
            </a:r>
            <a:r>
              <a:rPr sz="1600" b="1" dirty="0">
                <a:solidFill>
                  <a:srgbClr val="0F172A"/>
                </a:solidFill>
              </a:rPr>
              <a:t>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71CAD-0123-4EDE-A17C-4FDBD804BCB9}"/>
              </a:ext>
            </a:extLst>
          </p:cNvPr>
          <p:cNvSpPr>
            <a:spLocks noGrp="1"/>
          </p:cNvSpPr>
          <p:nvPr/>
        </p:nvSpPr>
        <p:spPr>
          <a:xfrm>
            <a:off x="3409950" y="23241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Hash de contrase�as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0DFAEE-D136-49DD-8BA8-09F199569E9B}"/>
              </a:ext>
            </a:extLst>
          </p:cNvPr>
          <p:cNvSpPr>
            <a:spLocks noGrp="1"/>
          </p:cNvSpPr>
          <p:nvPr/>
        </p:nvSpPr>
        <p:spPr>
          <a:xfrm>
            <a:off x="5753100" y="1771650"/>
            <a:ext cx="2381250" cy="1104900"/>
          </a:xfrm>
          <a:prstGeom prst="roundRect">
            <a:avLst>
              <a:gd name="adj" fmla="val 13793"/>
            </a:avLst>
          </a:prstGeom>
          <a:solidFill>
            <a:srgbClr val="ECFDF3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DDC9A1-EDEF-4AC4-BA67-DC09EFA1A11B}"/>
              </a:ext>
            </a:extLst>
          </p:cNvPr>
          <p:cNvSpPr>
            <a:spLocks noGrp="1"/>
          </p:cNvSpPr>
          <p:nvPr/>
        </p:nvSpPr>
        <p:spPr>
          <a:xfrm>
            <a:off x="5943600" y="19431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1600" b="1" dirty="0" err="1">
                <a:solidFill>
                  <a:srgbClr val="0F172A"/>
                </a:solidFill>
              </a:rPr>
              <a:t>password_verify</a:t>
            </a:r>
            <a:r>
              <a:rPr sz="1600" b="1" dirty="0">
                <a:solidFill>
                  <a:srgbClr val="0F172A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07059A-BA16-4CC3-AF1F-B343D9C9F2BF}"/>
              </a:ext>
            </a:extLst>
          </p:cNvPr>
          <p:cNvSpPr>
            <a:spLocks noGrp="1"/>
          </p:cNvSpPr>
          <p:nvPr/>
        </p:nvSpPr>
        <p:spPr>
          <a:xfrm>
            <a:off x="5943600" y="232410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Validacion de acceso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BED907-5B66-4215-A5CE-C0B1D7EEE1B6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3219450" cy="1104900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B30A9A-7C1E-4969-9AFB-255AEFD84F6D}"/>
              </a:ext>
            </a:extLst>
          </p:cNvPr>
          <p:cNvSpPr>
            <a:spLocks noGrp="1"/>
          </p:cNvSpPr>
          <p:nvPr/>
        </p:nvSpPr>
        <p:spPr>
          <a:xfrm>
            <a:off x="8477250" y="1943100"/>
            <a:ext cx="2838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1600" b="1" dirty="0">
                <a:solidFill>
                  <a:srgbClr val="0F172A"/>
                </a:solidFill>
              </a:rPr>
              <a:t>Prepared statements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E53926-746C-4D64-A912-DE9F35676D73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Proteccion contra SQL Injection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F83A20-0E6D-4360-A3D9-7920C7895E3C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0863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EEBF49-9E61-4E37-B138-C7344B3DBFBA}"/>
              </a:ext>
            </a:extLst>
          </p:cNvPr>
          <p:cNvSpPr>
            <a:spLocks noGrp="1"/>
          </p:cNvSpPr>
          <p:nvPr/>
        </p:nvSpPr>
        <p:spPr>
          <a:xfrm>
            <a:off x="933449" y="3486149"/>
            <a:ext cx="29241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 dirty="0" err="1">
                <a:solidFill>
                  <a:srgbClr val="0F172A"/>
                </a:solidFill>
              </a:rPr>
              <a:t>Controles</a:t>
            </a:r>
            <a:r>
              <a:rPr sz="1950" b="1" dirty="0">
                <a:solidFill>
                  <a:srgbClr val="0F172A"/>
                </a:solidFill>
              </a:rPr>
              <a:t> </a:t>
            </a:r>
            <a:r>
              <a:rPr sz="1950" b="1" dirty="0" err="1">
                <a:solidFill>
                  <a:srgbClr val="0F172A"/>
                </a:solidFill>
              </a:rPr>
              <a:t>implementados</a:t>
            </a:r>
            <a:endParaRPr sz="1950" b="1" dirty="0">
              <a:solidFill>
                <a:srgbClr val="0F172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FE0311-DFCF-4270-B013-2CEBF01C7315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Sesiones para autenticacion.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Restriccion por rol en modulos ADMIN.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Escape HTML en salida.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Validaciones de formularios.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0C7BC8-C508-40E0-BC61-1C569DBC59D5}"/>
              </a:ext>
            </a:extLst>
          </p:cNvPr>
          <p:cNvSpPr>
            <a:spLocks noGrp="1"/>
          </p:cNvSpPr>
          <p:nvPr/>
        </p:nvSpPr>
        <p:spPr>
          <a:xfrm>
            <a:off x="6076950" y="3238500"/>
            <a:ext cx="5429250" cy="24765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4335F9-692C-4E44-8741-745D9623CC71}"/>
              </a:ext>
            </a:extLst>
          </p:cNvPr>
          <p:cNvSpPr>
            <a:spLocks noGrp="1"/>
          </p:cNvSpPr>
          <p:nvPr/>
        </p:nvSpPr>
        <p:spPr>
          <a:xfrm>
            <a:off x="6343650" y="3486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Flujo de login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601555-078E-4665-AA3C-C490666F51D8}"/>
              </a:ext>
            </a:extLst>
          </p:cNvPr>
          <p:cNvSpPr>
            <a:spLocks noGrp="1"/>
          </p:cNvSpPr>
          <p:nvPr/>
        </p:nvSpPr>
        <p:spPr>
          <a:xfrm>
            <a:off x="6343650" y="3924300"/>
            <a:ext cx="4629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- 1. Usuario ingresa credenciales.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- 2. Nodo 2 busca username activo.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- 3. password_verify() valida la contrase�a.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- 4. Si coincide, se crea sesion y se entra al dashboard.</a:t>
            </a:r>
          </a:p>
        </p:txBody>
      </p:sp>
    </p:spTree>
    <p:extLst>
      <p:ext uri="{BB962C8B-B14F-4D97-AF65-F5344CB8AC3E}">
        <p14:creationId xmlns:p14="http://schemas.microsoft.com/office/powerpoint/2010/main" val="48111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3FA6A17-CF17-4F38-9065-F3300BFC86B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07250-0EFF-4FB3-85ED-596FD1B4D3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Compras y carritos: flujo previo a la venta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8F191-BA5F-4089-BA47-976FBE56552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F6DB07-1796-49D5-BA1F-C6186AE430B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781B1-13DA-47E8-88EB-F45ECA1DF4C7}"/>
              </a:ext>
            </a:extLst>
          </p:cNvPr>
          <p:cNvSpPr>
            <a:spLocks noGrp="1"/>
          </p:cNvSpPr>
          <p:nvPr/>
        </p:nvSpPr>
        <p:spPr>
          <a:xfrm>
            <a:off x="9525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Flujo de compras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19C9A-910F-4C38-9FFA-DC7E47BD8334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4381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selecciona proveedor y sucursal.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agregan productos, cantidades y costo.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Nodo 3 registra compra y detalle.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Nodo 1 incrementa stock.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Si hay error, se hace rollback.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796290-569F-4033-92B5-7ABAB056D4B2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B85A5-CE3B-4ED4-93CB-F5C2C099E3C2}"/>
              </a:ext>
            </a:extLst>
          </p:cNvPr>
          <p:cNvSpPr>
            <a:spLocks noGrp="1"/>
          </p:cNvSpPr>
          <p:nvPr/>
        </p:nvSpPr>
        <p:spPr>
          <a:xfrm>
            <a:off x="66294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Flujo de carrito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86B05-2141-4763-82DA-5A390936E2F0}"/>
              </a:ext>
            </a:extLst>
          </p:cNvPr>
          <p:cNvSpPr>
            <a:spLocks noGrp="1"/>
          </p:cNvSpPr>
          <p:nvPr/>
        </p:nvSpPr>
        <p:spPr>
          <a:xfrm>
            <a:off x="6629400" y="240030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asocia a un cliente.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agregan productos y cantidades.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guarda cabecera y detalle en Nodo 3.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Sirve como paso previo al cierre comercial.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0353-0CD2-4A9A-9BE3-BAA7D07C659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Ambos modulos permiten explicar el movimiento de datos antes de registrar una venta definitiva.</a:t>
            </a:r>
          </a:p>
        </p:txBody>
      </p:sp>
    </p:spTree>
    <p:extLst>
      <p:ext uri="{BB962C8B-B14F-4D97-AF65-F5344CB8AC3E}">
        <p14:creationId xmlns:p14="http://schemas.microsoft.com/office/powerpoint/2010/main" val="41719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492338-F249-4B93-A24B-2173B3ED82F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BE7D3C-C30C-4580-A631-0476A6FB31F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Venta distribuida con ACID y Two Phase Commit simplificado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E6ABE-3C8A-4097-85AC-12D3FBAEB8A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CD7B44-A381-40D1-8F1F-8DE636CB2C23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6858000" cy="417195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B1BAA-4186-4806-B94C-8282585732B2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Secuencia de la venta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DF6D4-2852-426D-86E4-C578A336A5DF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609600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- 1. Se recibe cliente, sucursal y productos.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- 2. Se registra PREPARED en distributed_transactions.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- 3. Se abren transacciones en Nodo 1 y Nodo 3.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- 4. Se verifica stock por sucursal.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- 5. Se descuenta stock y se crea venta + detalle.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- 6. Si todo sale bien, ambos nodos hacen COMMIT.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- 7. Si algo falla, ambos nodos hacen ROLLBACK y queda ABORTED.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159AF7-0431-48EB-8BE8-4911789D5AE9}"/>
              </a:ext>
            </a:extLst>
          </p:cNvPr>
          <p:cNvSpPr>
            <a:spLocks noGrp="1"/>
          </p:cNvSpPr>
          <p:nvPr/>
        </p:nvSpPr>
        <p:spPr>
          <a:xfrm>
            <a:off x="7886700" y="1638300"/>
            <a:ext cx="3619500" cy="4171950"/>
          </a:xfrm>
          <a:prstGeom prst="roundRect">
            <a:avLst>
              <a:gd name="adj" fmla="val 4211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F12DC-5255-4D90-A95C-2F57E5CB07BC}"/>
              </a:ext>
            </a:extLst>
          </p:cNvPr>
          <p:cNvSpPr>
            <a:spLocks noGrp="1"/>
          </p:cNvSpPr>
          <p:nvPr/>
        </p:nvSpPr>
        <p:spPr>
          <a:xfrm>
            <a:off x="8153400" y="1885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Propiedades ACID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EA2E65-BADF-4C50-8CF4-9B49DB41568C}"/>
              </a:ext>
            </a:extLst>
          </p:cNvPr>
          <p:cNvSpPr>
            <a:spLocks noGrp="1"/>
          </p:cNvSpPr>
          <p:nvPr/>
        </p:nvSpPr>
        <p:spPr>
          <a:xfrm>
            <a:off x="8153400" y="2324100"/>
            <a:ext cx="28575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- Atomicidad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- Consistencia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- Aislamiento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- Durabilidad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0543D-8EC4-4DA3-9A22-04374B4B2060}"/>
              </a:ext>
            </a:extLst>
          </p:cNvPr>
          <p:cNvSpPr>
            <a:spLocks noGrp="1"/>
          </p:cNvSpPr>
          <p:nvPr/>
        </p:nvSpPr>
        <p:spPr>
          <a:xfrm>
            <a:off x="8153400" y="3695700"/>
            <a:ext cx="285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La venta nunca queda a medias. O se confirma completa en ambos nodos o se revierte completa.</a:t>
            </a:r>
          </a:p>
        </p:txBody>
      </p:sp>
    </p:spTree>
    <p:extLst>
      <p:ext uri="{BB962C8B-B14F-4D97-AF65-F5344CB8AC3E}">
        <p14:creationId xmlns:p14="http://schemas.microsoft.com/office/powerpoint/2010/main" val="126030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4046ACC-511D-4E32-AF21-3EB05DE9AB8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E4AA8-CEB8-4A3C-91A0-B8B8C2A5C1A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Teorema CAP: se eligio CP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79E9A-7447-4832-8BF7-7803FEF9DE0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59DCB5-9B3A-4A81-A159-942F96D15D6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543300" cy="3943350"/>
          </a:xfrm>
          <a:prstGeom prst="roundRect">
            <a:avLst>
              <a:gd name="adj" fmla="val 4301"/>
            </a:avLst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FBCD6-24AB-469E-BE95-4239FDA3FC2F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1D4ED8"/>
                </a:solidFill>
              </a:defRPr>
            </a:pPr>
            <a:r>
              <a:rPr sz="4800" b="1">
                <a:solidFill>
                  <a:srgbClr val="1D4ED8"/>
                </a:solidFill>
              </a:rPr>
              <a:t>CP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F8F9C-FAE5-455A-B0BA-BCE6EED002C8}"/>
              </a:ext>
            </a:extLst>
          </p:cNvPr>
          <p:cNvSpPr>
            <a:spLocks noGrp="1"/>
          </p:cNvSpPr>
          <p:nvPr/>
        </p:nvSpPr>
        <p:spPr>
          <a:xfrm>
            <a:off x="971550" y="27432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Consistency + Partition Tolerance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F390B-2FE5-49CC-B3C4-F1BBA3F3F1CF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27622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La integridad del inventario y de las ventas es prioritaria frente a la disponibilidad total del sistema.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4AEA31-F2DD-4A56-BC79-E06639830F7C}"/>
              </a:ext>
            </a:extLst>
          </p:cNvPr>
          <p:cNvSpPr>
            <a:spLocks noGrp="1"/>
          </p:cNvSpPr>
          <p:nvPr/>
        </p:nvSpPr>
        <p:spPr>
          <a:xfrm>
            <a:off x="4610100" y="1676400"/>
            <a:ext cx="689610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CD6B2-A1C1-45B6-8985-10639256FDA1}"/>
              </a:ext>
            </a:extLst>
          </p:cNvPr>
          <p:cNvSpPr>
            <a:spLocks noGrp="1"/>
          </p:cNvSpPr>
          <p:nvPr/>
        </p:nvSpPr>
        <p:spPr>
          <a:xfrm>
            <a:off x="4876800" y="19240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Justificacion tecnica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759DF0-1547-446B-96BE-72E91CC2BCB5}"/>
              </a:ext>
            </a:extLst>
          </p:cNvPr>
          <p:cNvSpPr>
            <a:spLocks noGrp="1"/>
          </p:cNvSpPr>
          <p:nvPr/>
        </p:nvSpPr>
        <p:spPr>
          <a:xfrm>
            <a:off x="4876800" y="2343150"/>
            <a:ext cx="619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No se permiten ventas inconsistentes.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El inventario debe ser confiable.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Si un nodo cae, la operacion se bloquea.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E31974-A1DF-492C-BA6A-E3E3867CA5BF}"/>
              </a:ext>
            </a:extLst>
          </p:cNvPr>
          <p:cNvSpPr>
            <a:spLocks noGrp="1"/>
          </p:cNvSpPr>
          <p:nvPr/>
        </p:nvSpPr>
        <p:spPr>
          <a:xfrm>
            <a:off x="4610100" y="3695700"/>
            <a:ext cx="6896100" cy="1924050"/>
          </a:xfrm>
          <a:prstGeom prst="roundRect">
            <a:avLst>
              <a:gd name="adj" fmla="val 7921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1CD70-9617-41DA-9973-00D0AE55B779}"/>
              </a:ext>
            </a:extLst>
          </p:cNvPr>
          <p:cNvSpPr>
            <a:spLocks noGrp="1"/>
          </p:cNvSpPr>
          <p:nvPr/>
        </p:nvSpPr>
        <p:spPr>
          <a:xfrm>
            <a:off x="4876800" y="3943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Ejemplo de fallo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545C20-95AA-4661-AFC3-C867166844F3}"/>
              </a:ext>
            </a:extLst>
          </p:cNvPr>
          <p:cNvSpPr>
            <a:spLocks noGrp="1"/>
          </p:cNvSpPr>
          <p:nvPr/>
        </p:nvSpPr>
        <p:spPr>
          <a:xfrm>
            <a:off x="4876800" y="4362450"/>
            <a:ext cx="619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Falla el nodo de stock durante una venta.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La transaccion se aborta y no queda venta parcial.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Se sacrifica disponibilidad para evitar divergencia.</a:t>
            </a:r>
          </a:p>
        </p:txBody>
      </p:sp>
    </p:spTree>
    <p:extLst>
      <p:ext uri="{BB962C8B-B14F-4D97-AF65-F5344CB8AC3E}">
        <p14:creationId xmlns:p14="http://schemas.microsoft.com/office/powerpoint/2010/main" val="20855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F1B2FD3-859C-4056-BE27-F94F4B9AC2E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B3BDF-B33E-4671-8BBD-904BE0CA409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Uso de Docker, XAMPP, Git y cliente DB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3B4161-3DE7-465F-B76B-6637BDAD9EF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0C9C9B-4DAC-46CE-ACDD-0A4EA9B4D8E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3C3F76-A355-4EAA-A3A8-202E5B844993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Docker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9687CA-2464-4448-9605-3B081B259AEF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PHP + Apache + MySQL con compose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B9B663-9FB1-4071-B3D4-FE4637775F15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AB039-8652-4308-9030-5ACDEDA22747}"/>
              </a:ext>
            </a:extLst>
          </p:cNvPr>
          <p:cNvSpPr>
            <a:spLocks noGrp="1"/>
          </p:cNvSpPr>
          <p:nvPr/>
        </p:nvSpPr>
        <p:spPr>
          <a:xfrm>
            <a:off x="3429000" y="19621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XAMPP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50491-F132-4E7E-BB41-AEB970F1E6C9}"/>
              </a:ext>
            </a:extLst>
          </p:cNvPr>
          <p:cNvSpPr>
            <a:spLocks noGrp="1"/>
          </p:cNvSpPr>
          <p:nvPr/>
        </p:nvSpPr>
        <p:spPr>
          <a:xfrm>
            <a:off x="3429000" y="23431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Alternativa local clasica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447711-C247-4EC5-8370-9DF6017F274E}"/>
              </a:ext>
            </a:extLst>
          </p:cNvPr>
          <p:cNvSpPr>
            <a:spLocks noGrp="1"/>
          </p:cNvSpPr>
          <p:nvPr/>
        </p:nvSpPr>
        <p:spPr>
          <a:xfrm>
            <a:off x="5791200" y="1790700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3E8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A14B9-0DEA-4AF5-924F-40B5D65A9E42}"/>
              </a:ext>
            </a:extLst>
          </p:cNvPr>
          <p:cNvSpPr>
            <a:spLocks noGrp="1"/>
          </p:cNvSpPr>
          <p:nvPr/>
        </p:nvSpPr>
        <p:spPr>
          <a:xfrm>
            <a:off x="5981700" y="19621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Git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8CB08-1F7E-4A9E-A13B-0D3907A42B23}"/>
              </a:ext>
            </a:extLst>
          </p:cNvPr>
          <p:cNvSpPr>
            <a:spLocks noGrp="1"/>
          </p:cNvSpPr>
          <p:nvPr/>
        </p:nvSpPr>
        <p:spPr>
          <a:xfrm>
            <a:off x="5981700" y="23431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Historial y control de cambios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A43F8C-1182-4C6F-BC19-7A987BA357B9}"/>
              </a:ext>
            </a:extLst>
          </p:cNvPr>
          <p:cNvSpPr>
            <a:spLocks noGrp="1"/>
          </p:cNvSpPr>
          <p:nvPr/>
        </p:nvSpPr>
        <p:spPr>
          <a:xfrm>
            <a:off x="8343900" y="1790700"/>
            <a:ext cx="3162300" cy="1143000"/>
          </a:xfrm>
          <a:prstGeom prst="roundRect">
            <a:avLst>
              <a:gd name="adj" fmla="val 13333"/>
            </a:avLst>
          </a:prstGeom>
          <a:solidFill>
            <a:srgbClr val="ECFDF3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CF9B4F-70E2-4252-B459-77EAF87DDC4D}"/>
              </a:ext>
            </a:extLst>
          </p:cNvPr>
          <p:cNvSpPr>
            <a:spLocks noGrp="1"/>
          </p:cNvSpPr>
          <p:nvPr/>
        </p:nvSpPr>
        <p:spPr>
          <a:xfrm>
            <a:off x="8534400" y="1962150"/>
            <a:ext cx="278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Cliente 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1807E-062A-4682-8230-36706966E52F}"/>
              </a:ext>
            </a:extLst>
          </p:cNvPr>
          <p:cNvSpPr>
            <a:spLocks noGrp="1"/>
          </p:cNvSpPr>
          <p:nvPr/>
        </p:nvSpPr>
        <p:spPr>
          <a:xfrm>
            <a:off x="8534400" y="2343150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phpMyAdmin / DBeaver / Workbench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ED16E8-5D70-4F7F-877E-408552FE5504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52197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C49F8-1920-4276-9023-E1DE9B30E1C8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Comandos clave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D235FE-D2C6-41DD-B223-54263F1822A1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docker compose up -d --build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docker compose ps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docker compose logs web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docker compose logs db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8BD993-156F-4824-8A0E-1240F4DCCF80}"/>
              </a:ext>
            </a:extLst>
          </p:cNvPr>
          <p:cNvSpPr>
            <a:spLocks noGrp="1"/>
          </p:cNvSpPr>
          <p:nvPr/>
        </p:nvSpPr>
        <p:spPr>
          <a:xfrm>
            <a:off x="6286500" y="3295650"/>
            <a:ext cx="5219700" cy="238125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2BF4E4-BE87-46FB-933F-B052FA0B716A}"/>
              </a:ext>
            </a:extLst>
          </p:cNvPr>
          <p:cNvSpPr>
            <a:spLocks noGrp="1"/>
          </p:cNvSpPr>
          <p:nvPr/>
        </p:nvSpPr>
        <p:spPr>
          <a:xfrm>
            <a:off x="6553200" y="3543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Que conviene mostrar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BB124A-9C5C-444A-9F4F-66B1B0B70E43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4381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Las 3 bases separadas.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Login con admin.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Compra que aumenta stock.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- Venta que descuenta stock y deja rastro transaccional.</a:t>
            </a:r>
          </a:p>
        </p:txBody>
      </p:sp>
    </p:spTree>
    <p:extLst>
      <p:ext uri="{BB962C8B-B14F-4D97-AF65-F5344CB8AC3E}">
        <p14:creationId xmlns:p14="http://schemas.microsoft.com/office/powerpoint/2010/main" val="86178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B8F4FB3-B590-4B44-9BB9-833684DBDAB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B5FFF"/>
                </a:solidFill>
              </a:defRPr>
            </a:pPr>
            <a:r>
              <a:rPr sz="900" b="1">
                <a:solidFill>
                  <a:srgbClr val="0B5FFF"/>
                </a:solidFill>
              </a:rPr>
              <a:t>LIBRE MERCADO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171FD-3D6B-4D5A-8DD8-2A684AFEE1C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Cumplimiento de la rubrica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34493-E9BA-4B1A-9A20-78C08101E25E}"/>
              </a:ext>
            </a:extLst>
          </p:cNvPr>
          <p:cNvSpPr>
            <a:spLocks noGrp="1"/>
          </p:cNvSpPr>
          <p:nvPr/>
        </p:nvSpPr>
        <p:spPr>
          <a:xfrm>
            <a:off x="790575" y="1162050"/>
            <a:ext cx="10820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7F4C12-2C6D-4EC9-94D7-617564B15E4F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22E13-737C-4E2C-90E3-24E97B7546EB}"/>
              </a:ext>
            </a:extLst>
          </p:cNvPr>
          <p:cNvSpPr>
            <a:spLocks noGrp="1"/>
          </p:cNvSpPr>
          <p:nvPr/>
        </p:nvSpPr>
        <p:spPr>
          <a:xfrm>
            <a:off x="914400" y="2371725"/>
            <a:ext cx="10363200" cy="5143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F36147-B457-43BE-80ED-E89B5A21A0D4}"/>
              </a:ext>
            </a:extLst>
          </p:cNvPr>
          <p:cNvSpPr>
            <a:spLocks noGrp="1"/>
          </p:cNvSpPr>
          <p:nvPr/>
        </p:nvSpPr>
        <p:spPr>
          <a:xfrm>
            <a:off x="1104900" y="25050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CRUD completo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E81F5-7693-4DEC-9275-C21D1FB8E147}"/>
              </a:ext>
            </a:extLst>
          </p:cNvPr>
          <p:cNvSpPr>
            <a:spLocks noGrp="1"/>
          </p:cNvSpPr>
          <p:nvPr/>
        </p:nvSpPr>
        <p:spPr>
          <a:xfrm>
            <a:off x="4152900" y="25050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A25E36-9447-473B-BB4F-1FD4CCAD3375}"/>
              </a:ext>
            </a:extLst>
          </p:cNvPr>
          <p:cNvSpPr>
            <a:spLocks noGrp="1"/>
          </p:cNvSpPr>
          <p:nvPr/>
        </p:nvSpPr>
        <p:spPr>
          <a:xfrm>
            <a:off x="5905500" y="25050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9 modulos principales implementados.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7080D-ED6A-4DE4-B67D-6EE4BD996B2F}"/>
              </a:ext>
            </a:extLst>
          </p:cNvPr>
          <p:cNvSpPr>
            <a:spLocks noGrp="1"/>
          </p:cNvSpPr>
          <p:nvPr/>
        </p:nvSpPr>
        <p:spPr>
          <a:xfrm>
            <a:off x="914400" y="2886075"/>
            <a:ext cx="103632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F0EEB-0AB6-4393-B338-9C887442EADB}"/>
              </a:ext>
            </a:extLst>
          </p:cNvPr>
          <p:cNvSpPr>
            <a:spLocks noGrp="1"/>
          </p:cNvSpPr>
          <p:nvPr/>
        </p:nvSpPr>
        <p:spPr>
          <a:xfrm>
            <a:off x="1104900" y="30194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Arquitectura distribuida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B0F5E-B9C7-42F1-A6B9-70FC47DA3343}"/>
              </a:ext>
            </a:extLst>
          </p:cNvPr>
          <p:cNvSpPr>
            <a:spLocks noGrp="1"/>
          </p:cNvSpPr>
          <p:nvPr/>
        </p:nvSpPr>
        <p:spPr>
          <a:xfrm>
            <a:off x="4152900" y="30194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5A72E-73E6-4CB2-8E34-2F9FD14A53F1}"/>
              </a:ext>
            </a:extLst>
          </p:cNvPr>
          <p:cNvSpPr>
            <a:spLocks noGrp="1"/>
          </p:cNvSpPr>
          <p:nvPr/>
        </p:nvSpPr>
        <p:spPr>
          <a:xfrm>
            <a:off x="5905500" y="3019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3 bases y 3 conexiones PDO.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CA334-BBDC-4A63-99D6-06D7DDAD7991}"/>
              </a:ext>
            </a:extLst>
          </p:cNvPr>
          <p:cNvSpPr>
            <a:spLocks noGrp="1"/>
          </p:cNvSpPr>
          <p:nvPr/>
        </p:nvSpPr>
        <p:spPr>
          <a:xfrm>
            <a:off x="914400" y="3400425"/>
            <a:ext cx="10363200" cy="5143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C386A0-2D3D-4C1E-88EC-80B1A4AD70E0}"/>
              </a:ext>
            </a:extLst>
          </p:cNvPr>
          <p:cNvSpPr>
            <a:spLocks noGrp="1"/>
          </p:cNvSpPr>
          <p:nvPr/>
        </p:nvSpPr>
        <p:spPr>
          <a:xfrm>
            <a:off x="1104900" y="35337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ACID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41327F-B76F-4F81-87BC-6F00059F2D73}"/>
              </a:ext>
            </a:extLst>
          </p:cNvPr>
          <p:cNvSpPr>
            <a:spLocks noGrp="1"/>
          </p:cNvSpPr>
          <p:nvPr/>
        </p:nvSpPr>
        <p:spPr>
          <a:xfrm>
            <a:off x="4152900" y="35337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A97DD3-BE38-4425-8F87-56A0BB7AD6F3}"/>
              </a:ext>
            </a:extLst>
          </p:cNvPr>
          <p:cNvSpPr>
            <a:spLocks noGrp="1"/>
          </p:cNvSpPr>
          <p:nvPr/>
        </p:nvSpPr>
        <p:spPr>
          <a:xfrm>
            <a:off x="5905500" y="35337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Venta con commit y rollback coordinado.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93117-ADF9-4C19-85B7-B0920062E862}"/>
              </a:ext>
            </a:extLst>
          </p:cNvPr>
          <p:cNvSpPr>
            <a:spLocks noGrp="1"/>
          </p:cNvSpPr>
          <p:nvPr/>
        </p:nvSpPr>
        <p:spPr>
          <a:xfrm>
            <a:off x="914400" y="3914775"/>
            <a:ext cx="103632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9E4D36-4196-4D61-99F4-ADB480B30F21}"/>
              </a:ext>
            </a:extLst>
          </p:cNvPr>
          <p:cNvSpPr>
            <a:spLocks noGrp="1"/>
          </p:cNvSpPr>
          <p:nvPr/>
        </p:nvSpPr>
        <p:spPr>
          <a:xfrm>
            <a:off x="1104900" y="40481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DC9BA0-A35C-4EBB-B0AC-86D158A34261}"/>
              </a:ext>
            </a:extLst>
          </p:cNvPr>
          <p:cNvSpPr>
            <a:spLocks noGrp="1"/>
          </p:cNvSpPr>
          <p:nvPr/>
        </p:nvSpPr>
        <p:spPr>
          <a:xfrm>
            <a:off x="4152900" y="40481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BA6BD8-346E-4686-A345-97618C6BA784}"/>
              </a:ext>
            </a:extLst>
          </p:cNvPr>
          <p:cNvSpPr>
            <a:spLocks noGrp="1"/>
          </p:cNvSpPr>
          <p:nvPr/>
        </p:nvSpPr>
        <p:spPr>
          <a:xfrm>
            <a:off x="5905500" y="404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Eleccion CP documentada y defendible.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B3624F-F36F-49E1-AADD-BC0DB953D599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10363200" cy="5143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388D47-CCE9-41F6-85CA-FF02C7B57C6B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Seguridad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7F2BD4-362F-492B-BB92-337C70E08E2C}"/>
              </a:ext>
            </a:extLst>
          </p:cNvPr>
          <p:cNvSpPr>
            <a:spLocks noGrp="1"/>
          </p:cNvSpPr>
          <p:nvPr/>
        </p:nvSpPr>
        <p:spPr>
          <a:xfrm>
            <a:off x="4152900" y="45624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80CD02-7C22-436E-B3F2-37CC20339D9C}"/>
              </a:ext>
            </a:extLst>
          </p:cNvPr>
          <p:cNvSpPr>
            <a:spLocks noGrp="1"/>
          </p:cNvSpPr>
          <p:nvPr/>
        </p:nvSpPr>
        <p:spPr>
          <a:xfrm>
            <a:off x="5905500" y="45624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Hash, sesiones, roles y prepared statements.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9370B4-B772-4C1B-A8C0-493E8B8E2CAC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103632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A5C31C-306D-45C6-9A22-911DD90310F0}"/>
              </a:ext>
            </a:extLst>
          </p:cNvPr>
          <p:cNvSpPr>
            <a:spLocks noGrp="1"/>
          </p:cNvSpPr>
          <p:nvPr/>
        </p:nvSpPr>
        <p:spPr>
          <a:xfrm>
            <a:off x="1104900" y="50768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Documentacion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60415F-0CE6-4792-8017-A93C08C4A4ED}"/>
              </a:ext>
            </a:extLst>
          </p:cNvPr>
          <p:cNvSpPr>
            <a:spLocks noGrp="1"/>
          </p:cNvSpPr>
          <p:nvPr/>
        </p:nvSpPr>
        <p:spPr>
          <a:xfrm>
            <a:off x="4152900" y="50768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Cumplido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733E09-EE9A-49C6-83B7-478722F60038}"/>
              </a:ext>
            </a:extLst>
          </p:cNvPr>
          <p:cNvSpPr>
            <a:spLocks noGrp="1"/>
          </p:cNvSpPr>
          <p:nvPr/>
        </p:nvSpPr>
        <p:spPr>
          <a:xfrm>
            <a:off x="5905500" y="50768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README, arquitectura, Docker, XAMPP y DB client.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48F08C-C2CC-46FC-B9E2-035062633305}"/>
              </a:ext>
            </a:extLst>
          </p:cNvPr>
          <p:cNvSpPr>
            <a:spLocks noGrp="1"/>
          </p:cNvSpPr>
          <p:nvPr/>
        </p:nvSpPr>
        <p:spPr>
          <a:xfrm>
            <a:off x="914400" y="1857375"/>
            <a:ext cx="10363200" cy="514350"/>
          </a:xfrm>
          <a:prstGeom prst="rect">
            <a:avLst/>
          </a:prstGeom>
          <a:solidFill>
            <a:srgbClr val="0B5FFF"/>
          </a:solidFill>
          <a:ln w="9525">
            <a:solidFill>
              <a:srgbClr val="0B5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123F93-B8A5-4B87-9BCB-ED887B3CA220}"/>
              </a:ext>
            </a:extLst>
          </p:cNvPr>
          <p:cNvSpPr>
            <a:spLocks noGrp="1"/>
          </p:cNvSpPr>
          <p:nvPr/>
        </p:nvSpPr>
        <p:spPr>
          <a:xfrm>
            <a:off x="1104900" y="19907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630956-6D9C-448D-BC95-16240C8CCB4C}"/>
              </a:ext>
            </a:extLst>
          </p:cNvPr>
          <p:cNvSpPr>
            <a:spLocks noGrp="1"/>
          </p:cNvSpPr>
          <p:nvPr/>
        </p:nvSpPr>
        <p:spPr>
          <a:xfrm>
            <a:off x="4152900" y="19907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1033AF-8523-4AF1-8AFA-0C0C6A7DA901}"/>
              </a:ext>
            </a:extLst>
          </p:cNvPr>
          <p:cNvSpPr>
            <a:spLocks noGrp="1"/>
          </p:cNvSpPr>
          <p:nvPr/>
        </p:nvSpPr>
        <p:spPr>
          <a:xfrm>
            <a:off x="5905500" y="19907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Evidencia</a:t>
            </a:r>
          </a:p>
        </p:txBody>
      </p:sp>
    </p:spTree>
    <p:extLst>
      <p:ext uri="{BB962C8B-B14F-4D97-AF65-F5344CB8AC3E}">
        <p14:creationId xmlns:p14="http://schemas.microsoft.com/office/powerpoint/2010/main" val="1297370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02A0BF-DD91-4AA9-B39B-81D5F19BC9B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5276850"/>
          </a:xfrm>
          <a:prstGeom prst="roundRect">
            <a:avLst>
              <a:gd name="adj" fmla="val 2888"/>
            </a:avLst>
          </a:prstGeom>
          <a:solidFill>
            <a:srgbClr val="EAF1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86462-AF4A-47D2-AB04-A649A5037C52}"/>
              </a:ext>
            </a:extLst>
          </p:cNvPr>
          <p:cNvSpPr>
            <a:spLocks noGrp="1"/>
          </p:cNvSpPr>
          <p:nvPr/>
        </p:nvSpPr>
        <p:spPr>
          <a:xfrm>
            <a:off x="1066800" y="12573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B5FFF"/>
                </a:solidFill>
              </a:defRPr>
            </a:pPr>
            <a:r>
              <a:rPr sz="975" b="1">
                <a:solidFill>
                  <a:srgbClr val="0B5FFF"/>
                </a:solidFill>
              </a:rPr>
              <a:t>CIERRE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D9FEF-3199-4BB9-8882-394E0C4DF97E}"/>
              </a:ext>
            </a:extLst>
          </p:cNvPr>
          <p:cNvSpPr>
            <a:spLocks noGrp="1"/>
          </p:cNvSpPr>
          <p:nvPr/>
        </p:nvSpPr>
        <p:spPr>
          <a:xfrm>
            <a:off x="1066800" y="17335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Libre Mercado demuestra un sistema distribuido funcional, seguro y defendible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D2548-0636-4472-9BFE-3B19089C450A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7429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La fortaleza del proyecto no es solo la interfaz: es la coordinacion real entre nodos, reglas de negocio, transacciones y decisiones de arquitectura.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059B8-84B8-4EE7-B96B-D6023C8A147F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5238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Demo sugerida: login, compra, stock, venta, distributed_transactions.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- Mensaje final: se privilegia la integridad de datos sobre la disponibilidad inconsistente.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922AD7-322F-43F6-8999-6A2BA923467F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24765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93BF6-F928-4FA7-A5C4-44254A4A1BB6}"/>
              </a:ext>
            </a:extLst>
          </p:cNvPr>
          <p:cNvSpPr>
            <a:spLocks noGrp="1"/>
          </p:cNvSpPr>
          <p:nvPr/>
        </p:nvSpPr>
        <p:spPr>
          <a:xfrm>
            <a:off x="8362950" y="1962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 nodos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46B82-E1E2-4E11-9A06-1B64E92FEDB9}"/>
              </a:ext>
            </a:extLst>
          </p:cNvPr>
          <p:cNvSpPr>
            <a:spLocks noGrp="1"/>
          </p:cNvSpPr>
          <p:nvPr/>
        </p:nvSpPr>
        <p:spPr>
          <a:xfrm>
            <a:off x="8362950" y="23431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1 coordinador PHP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C4C8DF-9919-46E6-B6A6-00F4D33DFE34}"/>
              </a:ext>
            </a:extLst>
          </p:cNvPr>
          <p:cNvSpPr>
            <a:spLocks noGrp="1"/>
          </p:cNvSpPr>
          <p:nvPr/>
        </p:nvSpPr>
        <p:spPr>
          <a:xfrm>
            <a:off x="8172450" y="3219450"/>
            <a:ext cx="24765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79527D-908B-44C5-9814-5E87A1381268}"/>
              </a:ext>
            </a:extLst>
          </p:cNvPr>
          <p:cNvSpPr>
            <a:spLocks noGrp="1"/>
          </p:cNvSpPr>
          <p:nvPr/>
        </p:nvSpPr>
        <p:spPr>
          <a:xfrm>
            <a:off x="8362950" y="33909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BBB04-CE86-43A3-AFDE-59D34A86F8DD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Consistencia primero</a:t>
            </a:r>
          </a:p>
        </p:txBody>
      </p:sp>
    </p:spTree>
    <p:extLst>
      <p:ext uri="{BB962C8B-B14F-4D97-AF65-F5344CB8AC3E}">
        <p14:creationId xmlns:p14="http://schemas.microsoft.com/office/powerpoint/2010/main" val="14411909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DocSecurity>0</DocSecurity>
  <PresentationFormat>Widescreen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Adolfo Galleguillos Toledo</cp:lastModifiedBy>
  <cp:revision>1</cp:revision>
  <dcterms:created xsi:type="dcterms:W3CDTF">2026-06-17T20:54:50Z</dcterms:created>
  <dcterms:modified xsi:type="dcterms:W3CDTF">2026-06-17T21:10:48Z</dcterms:modified>
</cp:coreProperties>
</file>