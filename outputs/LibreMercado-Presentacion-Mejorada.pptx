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0D85140-92B4-4E1C-BCAC-2B4BCB30C7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0E0C2"/>
          </a:solidFill>
          <a:ln w="0">
            <a:solidFill>
              <a:srgbClr val="F0E0C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1EA09-CA10-467A-A8B7-87947BFF51E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F2937"/>
                </a:solidFill>
              </a:defRPr>
            </a:pPr>
            <a:r>
              <a:rPr sz="1650" b="1">
                <a:solidFill>
                  <a:srgbClr val="1F2937"/>
                </a:solidFill>
              </a:rPr>
              <a:t>TALLER SISTEMAS DISTRIBUIDOS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CC0AA-F2C2-43B7-869D-8DCC6C1033D2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1F2937"/>
                </a:solidFill>
              </a:defRPr>
            </a:pPr>
            <a:r>
              <a:rPr sz="4050" b="1">
                <a:solidFill>
                  <a:srgbClr val="1F2937"/>
                </a:solidFill>
              </a:rPr>
              <a:t>Libre Mercado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9F1FA1-CECC-42DB-9464-8A2990D5493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5334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52606D"/>
                </a:solidFill>
              </a:defRPr>
            </a:pPr>
            <a:r>
              <a:rPr sz="1800">
                <a:solidFill>
                  <a:srgbClr val="52606D"/>
                </a:solidFill>
              </a:rPr>
              <a:t>Sistema de comercio electronico distribuido en PHP con tres nodos de datos, CRUD completo, autenticacion segura, transacciones ACID y estrategia CAP de tipo CP.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2DA65B-8C98-4750-B333-B3443A98C2A4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1600200" cy="400050"/>
          </a:xfrm>
          <a:prstGeom prst="roundRect">
            <a:avLst>
              <a:gd name="adj" fmla="val 38095"/>
            </a:avLst>
          </a:prstGeom>
          <a:solidFill>
            <a:srgbClr val="FFFDFC"/>
          </a:solidFill>
          <a:ln w="11430">
            <a:solidFill>
              <a:srgbClr val="FFFDF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085A4-F4BD-40D6-8BD4-4CDC6B119DC8}"/>
              </a:ext>
            </a:extLst>
          </p:cNvPr>
          <p:cNvSpPr>
            <a:spLocks noGrp="1"/>
          </p:cNvSpPr>
          <p:nvPr/>
        </p:nvSpPr>
        <p:spPr>
          <a:xfrm>
            <a:off x="1238250" y="36480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rPr sz="1200" b="1" dirty="0">
                <a:solidFill>
                  <a:srgbClr val="1F2937"/>
                </a:solidFill>
              </a:rPr>
              <a:t>PHP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5CB43E-B15C-4447-BE1D-EEC6D0396DE5}"/>
              </a:ext>
            </a:extLst>
          </p:cNvPr>
          <p:cNvSpPr>
            <a:spLocks noGrp="1"/>
          </p:cNvSpPr>
          <p:nvPr/>
        </p:nvSpPr>
        <p:spPr>
          <a:xfrm>
            <a:off x="2438400" y="3543300"/>
            <a:ext cx="1543050" cy="400050"/>
          </a:xfrm>
          <a:prstGeom prst="roundRect">
            <a:avLst>
              <a:gd name="adj" fmla="val 38095"/>
            </a:avLst>
          </a:prstGeom>
          <a:solidFill>
            <a:srgbClr val="FFFDFC"/>
          </a:solidFill>
          <a:ln w="11430">
            <a:solidFill>
              <a:srgbClr val="FFFDF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BFA35-49A1-460D-A61A-5405BD3FB6AC}"/>
              </a:ext>
            </a:extLst>
          </p:cNvPr>
          <p:cNvSpPr>
            <a:spLocks noGrp="1"/>
          </p:cNvSpPr>
          <p:nvPr/>
        </p:nvSpPr>
        <p:spPr>
          <a:xfrm>
            <a:off x="2571750" y="3638550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MySQL / XAMPP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EB4242-F88E-42A9-B1E4-E8DD90D84EF5}"/>
              </a:ext>
            </a:extLst>
          </p:cNvPr>
          <p:cNvSpPr>
            <a:spLocks noGrp="1"/>
          </p:cNvSpPr>
          <p:nvPr/>
        </p:nvSpPr>
        <p:spPr>
          <a:xfrm>
            <a:off x="4133850" y="3543300"/>
            <a:ext cx="1885950" cy="400050"/>
          </a:xfrm>
          <a:prstGeom prst="roundRect">
            <a:avLst>
              <a:gd name="adj" fmla="val 38095"/>
            </a:avLst>
          </a:prstGeom>
          <a:solidFill>
            <a:srgbClr val="FFFDFC"/>
          </a:solidFill>
          <a:ln w="11430">
            <a:solidFill>
              <a:srgbClr val="FFFDF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C715C3-9980-41E6-B369-DE319D704BA3}"/>
              </a:ext>
            </a:extLst>
          </p:cNvPr>
          <p:cNvSpPr>
            <a:spLocks noGrp="1"/>
          </p:cNvSpPr>
          <p:nvPr/>
        </p:nvSpPr>
        <p:spPr>
          <a:xfrm>
            <a:off x="4267200" y="3638549"/>
            <a:ext cx="18288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rPr sz="1200" b="1" dirty="0">
                <a:solidFill>
                  <a:srgbClr val="1F2937"/>
                </a:solidFill>
              </a:rPr>
              <a:t>Docker + Git + DB 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5BFA93-7FC8-4650-9C92-AC1554B04252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  <a:r>
              <a:rPr lang="es-CL" sz="1200" dirty="0">
                <a:solidFill>
                  <a:srgbClr val="52606D"/>
                </a:solidFill>
              </a:rPr>
              <a:t>Sebastian Galleguillos T.</a:t>
            </a:r>
            <a:endParaRPr sz="1200" dirty="0">
              <a:solidFill>
                <a:srgbClr val="52606D"/>
              </a:solidFill>
            </a:endParaRPr>
          </a:p>
        </p:txBody>
      </p:sp>
      <p:pic>
        <p:nvPicPr>
          <p:cNvPr id="38" name="Picture 37" descr="Database-Connection Icons - Free SVG &amp; PNG Database-Connection Images -  Noun Project">
            <a:extLst>
              <a:ext uri="{FF2B5EF4-FFF2-40B4-BE49-F238E27FC236}">
                <a16:creationId xmlns:a16="http://schemas.microsoft.com/office/drawing/2014/main" id="{D9A34A7C-3B8D-11D0-7D38-2BAE07583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270" y="2058574"/>
            <a:ext cx="2678017" cy="267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00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5719E0E-05DA-4EE2-94F6-3A0E8A3146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F0E0C2"/>
          </a:solidFill>
          <a:ln w="0">
            <a:solidFill>
              <a:srgbClr val="F0E0C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3CC4E2-4794-4833-A848-709F2754CCF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14288"/>
          </a:xfrm>
          <a:prstGeom prst="rect">
            <a:avLst/>
          </a:prstGeom>
          <a:solidFill>
            <a:srgbClr val="D5DCE3"/>
          </a:solidFill>
          <a:ln w="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BBBAE1-B4D9-4ED5-B656-169043247CB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LIBRE MERCADO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9CCDA-FD40-47CF-AA7E-3892FA25B98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Alcance del proyecto y evidencia de cumplimiento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E36D44-FCC9-437F-AA4C-D43FA46523D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895850" cy="4210050"/>
          </a:xfrm>
          <a:prstGeom prst="roundRect">
            <a:avLst>
              <a:gd name="adj" fmla="val 3620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BBD4DD-E58B-404C-AB71-F5EC1F399F63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 dirty="0" err="1">
                <a:solidFill>
                  <a:srgbClr val="1F2937"/>
                </a:solidFill>
              </a:rPr>
              <a:t>Que</a:t>
            </a:r>
            <a:r>
              <a:rPr sz="1800" b="1" dirty="0">
                <a:solidFill>
                  <a:srgbClr val="1F2937"/>
                </a:solidFill>
              </a:rPr>
              <a:t> </a:t>
            </a:r>
            <a:r>
              <a:rPr sz="1800" b="1" dirty="0" err="1">
                <a:solidFill>
                  <a:srgbClr val="1F2937"/>
                </a:solidFill>
              </a:rPr>
              <a:t>exig</a:t>
            </a:r>
            <a:r>
              <a:rPr lang="es-CL" b="1" dirty="0">
                <a:solidFill>
                  <a:srgbClr val="1F2937"/>
                </a:solidFill>
              </a:rPr>
              <a:t>e</a:t>
            </a:r>
            <a:r>
              <a:rPr sz="1800" b="1" dirty="0">
                <a:solidFill>
                  <a:srgbClr val="1F2937"/>
                </a:solidFill>
              </a:rPr>
              <a:t> la </a:t>
            </a:r>
            <a:r>
              <a:rPr sz="1800" b="1" dirty="0" err="1">
                <a:solidFill>
                  <a:srgbClr val="1F2937"/>
                </a:solidFill>
              </a:rPr>
              <a:t>evaluacion</a:t>
            </a:r>
            <a:endParaRPr sz="1800" b="1" dirty="0">
              <a:solidFill>
                <a:srgbClr val="1F293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2898DC-8FFD-4496-A70C-A72A97B293D5}"/>
              </a:ext>
            </a:extLst>
          </p:cNvPr>
          <p:cNvSpPr>
            <a:spLocks noGrp="1"/>
          </p:cNvSpPr>
          <p:nvPr/>
        </p:nvSpPr>
        <p:spPr>
          <a:xfrm>
            <a:off x="933450" y="2362200"/>
            <a:ext cx="43053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CRUD completo sobre modulos del negocio.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Arquitectura distribuida con multiples nodos.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Transacciones ACID con rollback total.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Eleccion CAP justificada frente a fallos.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Seguridad, documentacion y stack profesional.</a:t>
            </a:r>
          </a:p>
        </p:txBody>
      </p:sp>
    </p:spTree>
    <p:extLst>
      <p:ext uri="{BB962C8B-B14F-4D97-AF65-F5344CB8AC3E}">
        <p14:creationId xmlns:p14="http://schemas.microsoft.com/office/powerpoint/2010/main" val="55250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6CA38F9-E0A1-4499-A875-431B15D01E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F0E0C2"/>
          </a:solidFill>
          <a:ln w="0">
            <a:solidFill>
              <a:srgbClr val="F0E0C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1DFD21-72E0-480D-8585-493FA66CAD06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14288"/>
          </a:xfrm>
          <a:prstGeom prst="rect">
            <a:avLst/>
          </a:prstGeom>
          <a:solidFill>
            <a:srgbClr val="D5DCE3"/>
          </a:solidFill>
          <a:ln w="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640255-99BC-466F-A45F-6722A751ADC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LIBRE MERCADO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B5E32C-BE08-498F-B0FC-8CE28D2B272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Arquitectura distribuida y separacion por nodos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7E7DD4-A3A5-4632-9A87-FA83867C6DB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4210050"/>
          </a:xfrm>
          <a:prstGeom prst="roundRect">
            <a:avLst>
              <a:gd name="adj" fmla="val 3620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18D389-AD9F-461A-81C3-B0B35229D777}"/>
              </a:ext>
            </a:extLst>
          </p:cNvPr>
          <p:cNvSpPr>
            <a:spLocks noGrp="1"/>
          </p:cNvSpPr>
          <p:nvPr/>
        </p:nvSpPr>
        <p:spPr>
          <a:xfrm>
            <a:off x="990600" y="1943099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 dirty="0" err="1">
                <a:solidFill>
                  <a:srgbClr val="1F2937"/>
                </a:solidFill>
              </a:rPr>
              <a:t>Aplicacion</a:t>
            </a:r>
            <a:r>
              <a:rPr sz="1800" b="1" dirty="0">
                <a:solidFill>
                  <a:srgbClr val="1F2937"/>
                </a:solidFill>
              </a:rPr>
              <a:t> PHP </a:t>
            </a:r>
            <a:r>
              <a:rPr sz="1800" b="1" dirty="0" err="1">
                <a:solidFill>
                  <a:srgbClr val="1F2937"/>
                </a:solidFill>
              </a:rPr>
              <a:t>como</a:t>
            </a:r>
            <a:r>
              <a:rPr sz="1800" b="1" dirty="0">
                <a:solidFill>
                  <a:srgbClr val="1F2937"/>
                </a:solidFill>
              </a:rPr>
              <a:t> </a:t>
            </a:r>
            <a:r>
              <a:rPr sz="1800" b="1" dirty="0" err="1">
                <a:solidFill>
                  <a:srgbClr val="1F2937"/>
                </a:solidFill>
              </a:rPr>
              <a:t>coordinador</a:t>
            </a:r>
            <a:endParaRPr sz="1800" b="1" dirty="0">
              <a:solidFill>
                <a:srgbClr val="1F2937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BB05F-D1A0-4503-B9FD-362FA59F2D11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El sistema no usa una sola base. Divide el dominio en 3 nodos y cada uno tiene su propia conexion PDO.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E73E6B-45A7-4E4D-8701-A3253AD06858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667000" cy="2057400"/>
          </a:xfrm>
          <a:prstGeom prst="roundRect">
            <a:avLst>
              <a:gd name="adj" fmla="val 7407"/>
            </a:avLst>
          </a:prstGeom>
          <a:solidFill>
            <a:srgbClr val="D8EDF7"/>
          </a:solidFill>
          <a:ln w="11430">
            <a:solidFill>
              <a:srgbClr val="2F6FA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4392B9-5A00-40C7-8C62-73D4EC21CBAC}"/>
              </a:ext>
            </a:extLst>
          </p:cNvPr>
          <p:cNvSpPr>
            <a:spLocks noGrp="1"/>
          </p:cNvSpPr>
          <p:nvPr/>
        </p:nvSpPr>
        <p:spPr>
          <a:xfrm>
            <a:off x="1143000" y="3238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Nodo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D21658-28F0-495C-B2F9-2EFC632D5BFF}"/>
              </a:ext>
            </a:extLst>
          </p:cNvPr>
          <p:cNvSpPr>
            <a:spLocks noGrp="1"/>
          </p:cNvSpPr>
          <p:nvPr/>
        </p:nvSpPr>
        <p:spPr>
          <a:xfrm>
            <a:off x="1143000" y="35623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Productos + Stock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117AD2-9BFF-46DB-A4A6-C16C60889F81}"/>
              </a:ext>
            </a:extLst>
          </p:cNvPr>
          <p:cNvSpPr>
            <a:spLocks noGrp="1"/>
          </p:cNvSpPr>
          <p:nvPr/>
        </p:nvSpPr>
        <p:spPr>
          <a:xfrm>
            <a:off x="1143000" y="3943350"/>
            <a:ext cx="209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Productos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Sucursales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Stock por sede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Validacion de inventario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26C0C9-810F-4A09-B7AF-568B5AAE5291}"/>
              </a:ext>
            </a:extLst>
          </p:cNvPr>
          <p:cNvSpPr>
            <a:spLocks noGrp="1"/>
          </p:cNvSpPr>
          <p:nvPr/>
        </p:nvSpPr>
        <p:spPr>
          <a:xfrm>
            <a:off x="4743450" y="3028950"/>
            <a:ext cx="2667000" cy="2057400"/>
          </a:xfrm>
          <a:prstGeom prst="roundRect">
            <a:avLst>
              <a:gd name="adj" fmla="val 7407"/>
            </a:avLst>
          </a:prstGeom>
          <a:solidFill>
            <a:srgbClr val="DCEEE6"/>
          </a:solidFill>
          <a:ln w="11430">
            <a:solidFill>
              <a:srgbClr val="2F855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EFC84C-8867-4E77-985A-956C7701D4D9}"/>
              </a:ext>
            </a:extLst>
          </p:cNvPr>
          <p:cNvSpPr>
            <a:spLocks noGrp="1"/>
          </p:cNvSpPr>
          <p:nvPr/>
        </p:nvSpPr>
        <p:spPr>
          <a:xfrm>
            <a:off x="4972050" y="3238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Nodo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C6FDC8-A83A-4F37-98FA-F8E73C4E17EA}"/>
              </a:ext>
            </a:extLst>
          </p:cNvPr>
          <p:cNvSpPr>
            <a:spLocks noGrp="1"/>
          </p:cNvSpPr>
          <p:nvPr/>
        </p:nvSpPr>
        <p:spPr>
          <a:xfrm>
            <a:off x="4972050" y="35623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Clientes + Usuarios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3EF576-C133-4871-8D98-1396E402F9A7}"/>
              </a:ext>
            </a:extLst>
          </p:cNvPr>
          <p:cNvSpPr>
            <a:spLocks noGrp="1"/>
          </p:cNvSpPr>
          <p:nvPr/>
        </p:nvSpPr>
        <p:spPr>
          <a:xfrm>
            <a:off x="4972050" y="3943350"/>
            <a:ext cx="209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Usuarios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Clientes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Login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Roles y sesiones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5FBB7B5-B7F1-4B85-8E85-499B730AECAB}"/>
              </a:ext>
            </a:extLst>
          </p:cNvPr>
          <p:cNvSpPr>
            <a:spLocks noGrp="1"/>
          </p:cNvSpPr>
          <p:nvPr/>
        </p:nvSpPr>
        <p:spPr>
          <a:xfrm>
            <a:off x="8572500" y="3028950"/>
            <a:ext cx="2667000" cy="2057400"/>
          </a:xfrm>
          <a:prstGeom prst="roundRect">
            <a:avLst>
              <a:gd name="adj" fmla="val 7407"/>
            </a:avLst>
          </a:prstGeom>
          <a:solidFill>
            <a:srgbClr val="F5E3E0"/>
          </a:solidFill>
          <a:ln w="11430">
            <a:solidFill>
              <a:srgbClr val="C0562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B008C-FFAB-48C6-8A06-B071563693D5}"/>
              </a:ext>
            </a:extLst>
          </p:cNvPr>
          <p:cNvSpPr>
            <a:spLocks noGrp="1"/>
          </p:cNvSpPr>
          <p:nvPr/>
        </p:nvSpPr>
        <p:spPr>
          <a:xfrm>
            <a:off x="8801100" y="3238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Nodo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A9ACBB-3A39-470B-A7AA-E07EFE9C266B}"/>
              </a:ext>
            </a:extLst>
          </p:cNvPr>
          <p:cNvSpPr>
            <a:spLocks noGrp="1"/>
          </p:cNvSpPr>
          <p:nvPr/>
        </p:nvSpPr>
        <p:spPr>
          <a:xfrm>
            <a:off x="8801100" y="356235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C05621"/>
                </a:solidFill>
              </a:defRPr>
            </a:pPr>
            <a:r>
              <a:rPr sz="1350" b="1">
                <a:solidFill>
                  <a:srgbClr val="C05621"/>
                </a:solidFill>
              </a:rPr>
              <a:t>Ventas + Carrito + Compras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96B2DF-69C5-4CE6-A777-E2D0B687CF82}"/>
              </a:ext>
            </a:extLst>
          </p:cNvPr>
          <p:cNvSpPr>
            <a:spLocks noGrp="1"/>
          </p:cNvSpPr>
          <p:nvPr/>
        </p:nvSpPr>
        <p:spPr>
          <a:xfrm>
            <a:off x="8801100" y="3943350"/>
            <a:ext cx="209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Carritos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Compras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Ventas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distributed_transactions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CD8C1A-DD68-4D86-B8FD-4B45C934F0BA}"/>
              </a:ext>
            </a:extLst>
          </p:cNvPr>
          <p:cNvSpPr>
            <a:spLocks noGrp="1"/>
          </p:cNvSpPr>
          <p:nvPr/>
        </p:nvSpPr>
        <p:spPr>
          <a:xfrm>
            <a:off x="3600450" y="4057650"/>
            <a:ext cx="1047750" cy="2857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9CCB8345-4BAC-4FA3-BFEA-F3A606C3A63B}"/>
              </a:ext>
            </a:extLst>
          </p:cNvPr>
          <p:cNvSpPr>
            <a:spLocks noGrp="1"/>
          </p:cNvSpPr>
          <p:nvPr/>
        </p:nvSpPr>
        <p:spPr>
          <a:xfrm>
            <a:off x="4476750" y="3981450"/>
            <a:ext cx="209550" cy="180975"/>
          </a:xfrm>
          <a:prstGeom prst="chevron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0C2BAE-792B-4113-8A0E-057DDD81975E}"/>
              </a:ext>
            </a:extLst>
          </p:cNvPr>
          <p:cNvSpPr>
            <a:spLocks noGrp="1"/>
          </p:cNvSpPr>
          <p:nvPr/>
        </p:nvSpPr>
        <p:spPr>
          <a:xfrm>
            <a:off x="7429500" y="4057650"/>
            <a:ext cx="1047750" cy="28575"/>
          </a:xfrm>
          <a:prstGeom prst="rect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3A6B98BA-91CD-459D-88AB-AF0A35AF1323}"/>
              </a:ext>
            </a:extLst>
          </p:cNvPr>
          <p:cNvSpPr>
            <a:spLocks noGrp="1"/>
          </p:cNvSpPr>
          <p:nvPr/>
        </p:nvSpPr>
        <p:spPr>
          <a:xfrm>
            <a:off x="8305800" y="3981450"/>
            <a:ext cx="209550" cy="180975"/>
          </a:xfrm>
          <a:prstGeom prst="chevron">
            <a:avLst/>
          </a:prstGeom>
          <a:solidFill>
            <a:srgbClr val="1F4E79"/>
          </a:solidFill>
          <a:ln w="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7B0FE6-D48C-4F87-8D1B-0407071D08FD}"/>
              </a:ext>
            </a:extLst>
          </p:cNvPr>
          <p:cNvSpPr>
            <a:spLocks noGrp="1"/>
          </p:cNvSpPr>
          <p:nvPr/>
        </p:nvSpPr>
        <p:spPr>
          <a:xfrm>
            <a:off x="3600450" y="36957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PDO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7ECD22-7EE8-489C-BC64-A778DC696294}"/>
              </a:ext>
            </a:extLst>
          </p:cNvPr>
          <p:cNvSpPr>
            <a:spLocks noGrp="1"/>
          </p:cNvSpPr>
          <p:nvPr/>
        </p:nvSpPr>
        <p:spPr>
          <a:xfrm>
            <a:off x="7429500" y="36957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F4E79"/>
                </a:solidFill>
              </a:defRPr>
            </a:pPr>
            <a:r>
              <a:rPr sz="1050" b="1">
                <a:solidFill>
                  <a:srgbClr val="1F4E79"/>
                </a:solidFill>
              </a:rPr>
              <a:t>PDO</a:t>
            </a:r>
          </a:p>
        </p:txBody>
      </p:sp>
    </p:spTree>
    <p:extLst>
      <p:ext uri="{BB962C8B-B14F-4D97-AF65-F5344CB8AC3E}">
        <p14:creationId xmlns:p14="http://schemas.microsoft.com/office/powerpoint/2010/main" val="35203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40EBE82-B5B2-4765-8B0F-D5655C5A7F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F0E0C2"/>
          </a:solidFill>
          <a:ln w="0">
            <a:solidFill>
              <a:srgbClr val="F0E0C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1C057B-79C9-49B3-8C8B-D994B5C5A664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14288"/>
          </a:xfrm>
          <a:prstGeom prst="rect">
            <a:avLst/>
          </a:prstGeom>
          <a:solidFill>
            <a:srgbClr val="D5DCE3"/>
          </a:solidFill>
          <a:ln w="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D679AF-EFF1-4C50-B46B-A659631A7D4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LIBRE MERCADO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0C2DE4-13A8-408F-8B5A-085CEAB3270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Modelo de datos, CRUD y reglas del negocio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A8CAB0-0EE9-48B5-954D-A5F22654F3FE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5105400" cy="4210050"/>
          </a:xfrm>
          <a:prstGeom prst="roundRect">
            <a:avLst>
              <a:gd name="adj" fmla="val 3620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D86101-7955-4A5B-91F8-C2897F6E6FFA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CRUD implementados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C629B-0134-46FD-AE45-4EA1CE7E3982}"/>
              </a:ext>
            </a:extLst>
          </p:cNvPr>
          <p:cNvSpPr>
            <a:spLocks noGrp="1"/>
          </p:cNvSpPr>
          <p:nvPr/>
        </p:nvSpPr>
        <p:spPr>
          <a:xfrm>
            <a:off x="933450" y="2362200"/>
            <a:ext cx="44005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Productos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Usuarios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Clientes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Sucursales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Stock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Proveedores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Compras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Carritos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Ventas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0DC489-6FDB-418B-AA74-69E1A6C1912E}"/>
              </a:ext>
            </a:extLst>
          </p:cNvPr>
          <p:cNvSpPr>
            <a:spLocks noGrp="1"/>
          </p:cNvSpPr>
          <p:nvPr/>
        </p:nvSpPr>
        <p:spPr>
          <a:xfrm>
            <a:off x="6172200" y="1695450"/>
            <a:ext cx="5334000" cy="4210050"/>
          </a:xfrm>
          <a:prstGeom prst="roundRect">
            <a:avLst>
              <a:gd name="adj" fmla="val 3620"/>
            </a:avLst>
          </a:prstGeom>
          <a:solidFill>
            <a:srgbClr val="ECF1F5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201FD1-7EA5-4BA4-9781-F21C53E19437}"/>
              </a:ext>
            </a:extLst>
          </p:cNvPr>
          <p:cNvSpPr>
            <a:spLocks noGrp="1"/>
          </p:cNvSpPr>
          <p:nvPr/>
        </p:nvSpPr>
        <p:spPr>
          <a:xfrm>
            <a:off x="6419850" y="1788319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 dirty="0">
                <a:solidFill>
                  <a:srgbClr val="1F2937"/>
                </a:solidFill>
              </a:rPr>
              <a:t>Reglas clave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6C6354-DC88-41C1-B911-1BB94A7FD0FF}"/>
              </a:ext>
            </a:extLst>
          </p:cNvPr>
          <p:cNvSpPr>
            <a:spLocks noGrp="1"/>
          </p:cNvSpPr>
          <p:nvPr/>
        </p:nvSpPr>
        <p:spPr>
          <a:xfrm>
            <a:off x="6419850" y="2362200"/>
            <a:ext cx="462915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06D"/>
                </a:solidFill>
              </a:defRPr>
            </a:pPr>
            <a:r>
              <a:rPr sz="1350" dirty="0">
                <a:solidFill>
                  <a:srgbClr val="52606D"/>
                </a:solidFill>
              </a:rPr>
              <a:t>- </a:t>
            </a:r>
            <a:r>
              <a:rPr sz="1350" dirty="0" err="1">
                <a:solidFill>
                  <a:srgbClr val="52606D"/>
                </a:solidFill>
              </a:rPr>
              <a:t>Productos</a:t>
            </a:r>
            <a:r>
              <a:rPr sz="1350" dirty="0">
                <a:solidFill>
                  <a:srgbClr val="52606D"/>
                </a:solidFill>
              </a:rPr>
              <a:t> y </a:t>
            </a:r>
            <a:r>
              <a:rPr sz="1350" dirty="0" err="1">
                <a:solidFill>
                  <a:srgbClr val="52606D"/>
                </a:solidFill>
              </a:rPr>
              <a:t>usuarios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usan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borrado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logico</a:t>
            </a:r>
            <a:r>
              <a:rPr sz="1350" dirty="0">
                <a:solidFill>
                  <a:srgbClr val="52606D"/>
                </a:solidFill>
              </a:rPr>
              <a:t>, no </a:t>
            </a:r>
            <a:r>
              <a:rPr sz="1350" dirty="0" err="1">
                <a:solidFill>
                  <a:srgbClr val="52606D"/>
                </a:solidFill>
              </a:rPr>
              <a:t>eliminacion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fisica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directa</a:t>
            </a:r>
            <a:r>
              <a:rPr sz="1350" dirty="0">
                <a:solidFill>
                  <a:srgbClr val="52606D"/>
                </a:solidFill>
              </a:rPr>
              <a:t>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 dirty="0">
                <a:solidFill>
                  <a:srgbClr val="52606D"/>
                </a:solidFill>
              </a:rPr>
              <a:t>- Stock </a:t>
            </a:r>
            <a:r>
              <a:rPr sz="1350" dirty="0" err="1">
                <a:solidFill>
                  <a:srgbClr val="52606D"/>
                </a:solidFill>
              </a:rPr>
              <a:t>depende</a:t>
            </a:r>
            <a:r>
              <a:rPr sz="1350" dirty="0">
                <a:solidFill>
                  <a:srgbClr val="52606D"/>
                </a:solidFill>
              </a:rPr>
              <a:t> de </a:t>
            </a:r>
            <a:r>
              <a:rPr sz="1350" dirty="0" err="1">
                <a:solidFill>
                  <a:srgbClr val="52606D"/>
                </a:solidFill>
              </a:rPr>
              <a:t>producto</a:t>
            </a:r>
            <a:r>
              <a:rPr sz="1350" dirty="0">
                <a:solidFill>
                  <a:srgbClr val="52606D"/>
                </a:solidFill>
              </a:rPr>
              <a:t> + </a:t>
            </a:r>
            <a:r>
              <a:rPr sz="1350" dirty="0" err="1">
                <a:solidFill>
                  <a:srgbClr val="52606D"/>
                </a:solidFill>
              </a:rPr>
              <a:t>sucursal</a:t>
            </a:r>
            <a:r>
              <a:rPr sz="1350" dirty="0">
                <a:solidFill>
                  <a:srgbClr val="52606D"/>
                </a:solidFill>
              </a:rPr>
              <a:t>, no de </a:t>
            </a:r>
            <a:r>
              <a:rPr sz="1350" dirty="0" err="1">
                <a:solidFill>
                  <a:srgbClr val="52606D"/>
                </a:solidFill>
              </a:rPr>
              <a:t>una</a:t>
            </a:r>
            <a:r>
              <a:rPr sz="1350" dirty="0">
                <a:solidFill>
                  <a:srgbClr val="52606D"/>
                </a:solidFill>
              </a:rPr>
              <a:t> sola </a:t>
            </a:r>
            <a:r>
              <a:rPr sz="1350" dirty="0" err="1">
                <a:solidFill>
                  <a:srgbClr val="52606D"/>
                </a:solidFill>
              </a:rPr>
              <a:t>existencia</a:t>
            </a:r>
            <a:r>
              <a:rPr sz="1350" dirty="0">
                <a:solidFill>
                  <a:srgbClr val="52606D"/>
                </a:solidFill>
              </a:rPr>
              <a:t> global.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 dirty="0">
                <a:solidFill>
                  <a:srgbClr val="52606D"/>
                </a:solidFill>
              </a:rPr>
              <a:t>- Una </a:t>
            </a:r>
            <a:r>
              <a:rPr sz="1350" dirty="0" err="1">
                <a:solidFill>
                  <a:srgbClr val="52606D"/>
                </a:solidFill>
              </a:rPr>
              <a:t>compra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aumenta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inventario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en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Nodo</a:t>
            </a:r>
            <a:r>
              <a:rPr sz="1350" dirty="0">
                <a:solidFill>
                  <a:srgbClr val="52606D"/>
                </a:solidFill>
              </a:rPr>
              <a:t> 1.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 dirty="0">
                <a:solidFill>
                  <a:srgbClr val="52606D"/>
                </a:solidFill>
              </a:rPr>
              <a:t>- Una </a:t>
            </a:r>
            <a:r>
              <a:rPr sz="1350" dirty="0" err="1">
                <a:solidFill>
                  <a:srgbClr val="52606D"/>
                </a:solidFill>
              </a:rPr>
              <a:t>venta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descuenta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inventario</a:t>
            </a:r>
            <a:r>
              <a:rPr sz="1350" dirty="0">
                <a:solidFill>
                  <a:srgbClr val="52606D"/>
                </a:solidFill>
              </a:rPr>
              <a:t> y </a:t>
            </a:r>
            <a:r>
              <a:rPr sz="1350" dirty="0" err="1">
                <a:solidFill>
                  <a:srgbClr val="52606D"/>
                </a:solidFill>
              </a:rPr>
              <a:t>deja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detalle</a:t>
            </a:r>
            <a:r>
              <a:rPr sz="1350" dirty="0">
                <a:solidFill>
                  <a:srgbClr val="52606D"/>
                </a:solidFill>
              </a:rPr>
              <a:t> de </a:t>
            </a:r>
            <a:r>
              <a:rPr sz="1350" dirty="0" err="1">
                <a:solidFill>
                  <a:srgbClr val="52606D"/>
                </a:solidFill>
              </a:rPr>
              <a:t>trazabilidad</a:t>
            </a:r>
            <a:r>
              <a:rPr sz="1350" dirty="0">
                <a:solidFill>
                  <a:srgbClr val="52606D"/>
                </a:solidFill>
              </a:rPr>
              <a:t>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 dirty="0">
                <a:solidFill>
                  <a:srgbClr val="52606D"/>
                </a:solidFill>
              </a:rPr>
              <a:t>- Las </a:t>
            </a:r>
            <a:r>
              <a:rPr sz="1350" dirty="0" err="1">
                <a:solidFill>
                  <a:srgbClr val="52606D"/>
                </a:solidFill>
              </a:rPr>
              <a:t>validaciones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evitan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datos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vacios</a:t>
            </a:r>
            <a:r>
              <a:rPr sz="1350" dirty="0">
                <a:solidFill>
                  <a:srgbClr val="52606D"/>
                </a:solidFill>
              </a:rPr>
              <a:t>, </a:t>
            </a:r>
            <a:r>
              <a:rPr sz="1350" dirty="0" err="1">
                <a:solidFill>
                  <a:srgbClr val="52606D"/>
                </a:solidFill>
              </a:rPr>
              <a:t>duplicados</a:t>
            </a:r>
            <a:r>
              <a:rPr sz="1350" dirty="0">
                <a:solidFill>
                  <a:srgbClr val="52606D"/>
                </a:solidFill>
              </a:rPr>
              <a:t> y </a:t>
            </a:r>
            <a:r>
              <a:rPr sz="1350" dirty="0" err="1">
                <a:solidFill>
                  <a:srgbClr val="52606D"/>
                </a:solidFill>
              </a:rPr>
              <a:t>acciones</a:t>
            </a:r>
            <a:r>
              <a:rPr sz="1350" dirty="0">
                <a:solidFill>
                  <a:srgbClr val="52606D"/>
                </a:solidFill>
              </a:rPr>
              <a:t> </a:t>
            </a:r>
            <a:r>
              <a:rPr sz="1350" dirty="0" err="1">
                <a:solidFill>
                  <a:srgbClr val="52606D"/>
                </a:solidFill>
              </a:rPr>
              <a:t>inconsistentes</a:t>
            </a:r>
            <a:r>
              <a:rPr sz="1350" dirty="0">
                <a:solidFill>
                  <a:srgbClr val="52606D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4598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B138568-0DB3-4BC5-9620-4D99DFBE48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F0E0C2"/>
          </a:solidFill>
          <a:ln w="0">
            <a:solidFill>
              <a:srgbClr val="F0E0C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FC6F9D-499C-4D30-B89A-F62A2065AB41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14288"/>
          </a:xfrm>
          <a:prstGeom prst="rect">
            <a:avLst/>
          </a:prstGeom>
          <a:solidFill>
            <a:srgbClr val="D5DCE3"/>
          </a:solidFill>
          <a:ln w="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4EF041-6038-46C7-AC67-5E361A858C48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LIBRE MERCADO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B81C93-4441-4780-98F4-23BF96FB972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Flujo del cliente: carrito, compra y visualizacion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A394A8-C725-4499-9731-99D4B3F1AC9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4210050"/>
          </a:xfrm>
          <a:prstGeom prst="roundRect">
            <a:avLst>
              <a:gd name="adj" fmla="val 3620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ADF609-9578-4C6F-A9DF-BA94FDD41CD9}"/>
              </a:ext>
            </a:extLst>
          </p:cNvPr>
          <p:cNvSpPr>
            <a:spLocks noGrp="1"/>
          </p:cNvSpPr>
          <p:nvPr/>
        </p:nvSpPr>
        <p:spPr>
          <a:xfrm>
            <a:off x="971550" y="2019300"/>
            <a:ext cx="1257300" cy="400050"/>
          </a:xfrm>
          <a:prstGeom prst="roundRect">
            <a:avLst>
              <a:gd name="adj" fmla="val 38095"/>
            </a:avLst>
          </a:prstGeom>
          <a:solidFill>
            <a:srgbClr val="D8EDF7"/>
          </a:solidFill>
          <a:ln w="11430">
            <a:solidFill>
              <a:srgbClr val="D8ED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7A57D-2768-47B8-801A-7E972441786F}"/>
              </a:ext>
            </a:extLst>
          </p:cNvPr>
          <p:cNvSpPr>
            <a:spLocks noGrp="1"/>
          </p:cNvSpPr>
          <p:nvPr/>
        </p:nvSpPr>
        <p:spPr>
          <a:xfrm>
            <a:off x="1104900" y="21145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1. Login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CF75E1-C0C2-4203-93E1-F8FECA7C09CB}"/>
              </a:ext>
            </a:extLst>
          </p:cNvPr>
          <p:cNvSpPr>
            <a:spLocks noGrp="1"/>
          </p:cNvSpPr>
          <p:nvPr/>
        </p:nvSpPr>
        <p:spPr>
          <a:xfrm>
            <a:off x="2476500" y="2019300"/>
            <a:ext cx="1619250" cy="400050"/>
          </a:xfrm>
          <a:prstGeom prst="roundRect">
            <a:avLst>
              <a:gd name="adj" fmla="val 38095"/>
            </a:avLst>
          </a:prstGeom>
          <a:solidFill>
            <a:srgbClr val="D8EDF7"/>
          </a:solidFill>
          <a:ln w="11430">
            <a:solidFill>
              <a:srgbClr val="D8ED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B3073-0CFB-4941-8594-867C1A47A336}"/>
              </a:ext>
            </a:extLst>
          </p:cNvPr>
          <p:cNvSpPr>
            <a:spLocks noGrp="1"/>
          </p:cNvSpPr>
          <p:nvPr/>
        </p:nvSpPr>
        <p:spPr>
          <a:xfrm>
            <a:off x="2609850" y="2114550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2. Carrito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8BB640-FE30-4A56-83EC-DE4FFAA027A8}"/>
              </a:ext>
            </a:extLst>
          </p:cNvPr>
          <p:cNvSpPr>
            <a:spLocks noGrp="1"/>
          </p:cNvSpPr>
          <p:nvPr/>
        </p:nvSpPr>
        <p:spPr>
          <a:xfrm>
            <a:off x="4343400" y="2019300"/>
            <a:ext cx="2019300" cy="400050"/>
          </a:xfrm>
          <a:prstGeom prst="roundRect">
            <a:avLst>
              <a:gd name="adj" fmla="val 38095"/>
            </a:avLst>
          </a:prstGeom>
          <a:solidFill>
            <a:srgbClr val="D8EDF7"/>
          </a:solidFill>
          <a:ln w="11430">
            <a:solidFill>
              <a:srgbClr val="D8ED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D5D80-54CD-4E2A-8E2F-677C366BBA39}"/>
              </a:ext>
            </a:extLst>
          </p:cNvPr>
          <p:cNvSpPr>
            <a:spLocks noGrp="1"/>
          </p:cNvSpPr>
          <p:nvPr/>
        </p:nvSpPr>
        <p:spPr>
          <a:xfrm>
            <a:off x="4476750" y="2114550"/>
            <a:ext cx="1752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3. Checkout / venta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0271E9-4CC7-4F1E-892C-ABC4E3C9D15E}"/>
              </a:ext>
            </a:extLst>
          </p:cNvPr>
          <p:cNvSpPr>
            <a:spLocks noGrp="1"/>
          </p:cNvSpPr>
          <p:nvPr/>
        </p:nvSpPr>
        <p:spPr>
          <a:xfrm>
            <a:off x="6610350" y="2019300"/>
            <a:ext cx="1657350" cy="400050"/>
          </a:xfrm>
          <a:prstGeom prst="roundRect">
            <a:avLst>
              <a:gd name="adj" fmla="val 38095"/>
            </a:avLst>
          </a:prstGeom>
          <a:solidFill>
            <a:srgbClr val="D8EDF7"/>
          </a:solidFill>
          <a:ln w="11430">
            <a:solidFill>
              <a:srgbClr val="D8EDF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122F82-23F9-493A-82A8-89BCA5D2D74A}"/>
              </a:ext>
            </a:extLst>
          </p:cNvPr>
          <p:cNvSpPr>
            <a:spLocks noGrp="1"/>
          </p:cNvSpPr>
          <p:nvPr/>
        </p:nvSpPr>
        <p:spPr>
          <a:xfrm>
            <a:off x="6743700" y="211455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1F2937"/>
                </a:solidFill>
              </a:defRPr>
            </a:pPr>
            <a:r>
              <a:rPr sz="1200" b="1">
                <a:solidFill>
                  <a:srgbClr val="1F2937"/>
                </a:solidFill>
              </a:rPr>
              <a:t>4. Mis compras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10A86B-3692-4851-AC2D-CAF7EB044E93}"/>
              </a:ext>
            </a:extLst>
          </p:cNvPr>
          <p:cNvSpPr>
            <a:spLocks noGrp="1"/>
          </p:cNvSpPr>
          <p:nvPr/>
        </p:nvSpPr>
        <p:spPr>
          <a:xfrm>
            <a:off x="2247900" y="2219325"/>
            <a:ext cx="190500" cy="28575"/>
          </a:xfrm>
          <a:prstGeom prst="rect">
            <a:avLst/>
          </a:prstGeom>
          <a:solidFill>
            <a:srgbClr val="2F6FA5"/>
          </a:solidFill>
          <a:ln w="0">
            <a:solidFill>
              <a:srgbClr val="2F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11346EF1-593C-41E7-B43E-F982855E077B}"/>
              </a:ext>
            </a:extLst>
          </p:cNvPr>
          <p:cNvSpPr>
            <a:spLocks noGrp="1"/>
          </p:cNvSpPr>
          <p:nvPr/>
        </p:nvSpPr>
        <p:spPr>
          <a:xfrm>
            <a:off x="2266950" y="2143125"/>
            <a:ext cx="209550" cy="180975"/>
          </a:xfrm>
          <a:prstGeom prst="chevron">
            <a:avLst/>
          </a:prstGeom>
          <a:solidFill>
            <a:srgbClr val="2F6FA5"/>
          </a:solidFill>
          <a:ln w="0">
            <a:solidFill>
              <a:srgbClr val="2F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B10F33-FD17-406B-899F-FA301415A34A}"/>
              </a:ext>
            </a:extLst>
          </p:cNvPr>
          <p:cNvSpPr>
            <a:spLocks noGrp="1"/>
          </p:cNvSpPr>
          <p:nvPr/>
        </p:nvSpPr>
        <p:spPr>
          <a:xfrm>
            <a:off x="4114800" y="2219325"/>
            <a:ext cx="190500" cy="28575"/>
          </a:xfrm>
          <a:prstGeom prst="rect">
            <a:avLst/>
          </a:prstGeom>
          <a:solidFill>
            <a:srgbClr val="2F6FA5"/>
          </a:solidFill>
          <a:ln w="0">
            <a:solidFill>
              <a:srgbClr val="2F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6FA88BDA-F402-42F3-8306-01AC9250BD31}"/>
              </a:ext>
            </a:extLst>
          </p:cNvPr>
          <p:cNvSpPr>
            <a:spLocks noGrp="1"/>
          </p:cNvSpPr>
          <p:nvPr/>
        </p:nvSpPr>
        <p:spPr>
          <a:xfrm>
            <a:off x="4133850" y="2143125"/>
            <a:ext cx="209550" cy="180975"/>
          </a:xfrm>
          <a:prstGeom prst="chevron">
            <a:avLst/>
          </a:prstGeom>
          <a:solidFill>
            <a:srgbClr val="2F6FA5"/>
          </a:solidFill>
          <a:ln w="0">
            <a:solidFill>
              <a:srgbClr val="2F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F0EA82-78D9-4F2C-B2C2-C6F3039F2CE9}"/>
              </a:ext>
            </a:extLst>
          </p:cNvPr>
          <p:cNvSpPr>
            <a:spLocks noGrp="1"/>
          </p:cNvSpPr>
          <p:nvPr/>
        </p:nvSpPr>
        <p:spPr>
          <a:xfrm>
            <a:off x="6381750" y="2219325"/>
            <a:ext cx="190500" cy="28575"/>
          </a:xfrm>
          <a:prstGeom prst="rect">
            <a:avLst/>
          </a:prstGeom>
          <a:solidFill>
            <a:srgbClr val="2F6FA5"/>
          </a:solidFill>
          <a:ln w="0">
            <a:solidFill>
              <a:srgbClr val="2F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8F696D5B-4201-4BCE-9CAA-2BC5A7CE0974}"/>
              </a:ext>
            </a:extLst>
          </p:cNvPr>
          <p:cNvSpPr>
            <a:spLocks noGrp="1"/>
          </p:cNvSpPr>
          <p:nvPr/>
        </p:nvSpPr>
        <p:spPr>
          <a:xfrm>
            <a:off x="6400800" y="2143125"/>
            <a:ext cx="209550" cy="180975"/>
          </a:xfrm>
          <a:prstGeom prst="chevron">
            <a:avLst/>
          </a:prstGeom>
          <a:solidFill>
            <a:srgbClr val="2F6FA5"/>
          </a:solidFill>
          <a:ln w="0">
            <a:solidFill>
              <a:srgbClr val="2F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A25B67-D01A-445C-9E39-586A5C32BAF0}"/>
              </a:ext>
            </a:extLst>
          </p:cNvPr>
          <p:cNvSpPr>
            <a:spLocks noGrp="1"/>
          </p:cNvSpPr>
          <p:nvPr/>
        </p:nvSpPr>
        <p:spPr>
          <a:xfrm>
            <a:off x="933450" y="2800350"/>
            <a:ext cx="2457450" cy="2362200"/>
          </a:xfrm>
          <a:prstGeom prst="roundRect">
            <a:avLst>
              <a:gd name="adj" fmla="val 6452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373A3B-B012-44BB-A10B-FF291FD5CBF7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20955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Usuario CLIENTE inicia sesion.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Nodo 2 valida credenciales con password_verify().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Se crea la sesion y se carga el dashboard segun rol.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AE9D4B-F3E3-4778-85F2-81BB867FCD14}"/>
              </a:ext>
            </a:extLst>
          </p:cNvPr>
          <p:cNvSpPr>
            <a:spLocks noGrp="1"/>
          </p:cNvSpPr>
          <p:nvPr/>
        </p:nvSpPr>
        <p:spPr>
          <a:xfrm>
            <a:off x="3695700" y="2800350"/>
            <a:ext cx="2457450" cy="2362200"/>
          </a:xfrm>
          <a:prstGeom prst="roundRect">
            <a:avLst>
              <a:gd name="adj" fmla="val 6452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4A9C81-6A0E-4A6C-A874-C13DFA48AA7D}"/>
              </a:ext>
            </a:extLst>
          </p:cNvPr>
          <p:cNvSpPr>
            <a:spLocks noGrp="1"/>
          </p:cNvSpPr>
          <p:nvPr/>
        </p:nvSpPr>
        <p:spPr>
          <a:xfrm>
            <a:off x="3886200" y="3048000"/>
            <a:ext cx="20955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El cliente crea y edita su propio carrito.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Solo ve sus registros, no los de otros usuarios.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Se agregan productos y cantidades.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14E6EC-BF93-416D-B8FF-E80A42F82C9E}"/>
              </a:ext>
            </a:extLst>
          </p:cNvPr>
          <p:cNvSpPr>
            <a:spLocks noGrp="1"/>
          </p:cNvSpPr>
          <p:nvPr/>
        </p:nvSpPr>
        <p:spPr>
          <a:xfrm>
            <a:off x="6457950" y="2800350"/>
            <a:ext cx="2457450" cy="2362200"/>
          </a:xfrm>
          <a:prstGeom prst="roundRect">
            <a:avLst>
              <a:gd name="adj" fmla="val 6452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3C4F34-21D5-43FC-8669-E0BFBFF297BD}"/>
              </a:ext>
            </a:extLst>
          </p:cNvPr>
          <p:cNvSpPr>
            <a:spLocks noGrp="1"/>
          </p:cNvSpPr>
          <p:nvPr/>
        </p:nvSpPr>
        <p:spPr>
          <a:xfrm>
            <a:off x="6648450" y="3048000"/>
            <a:ext cx="20955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Elige sucursal para descontar stock.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La venta valida inventario antes de confirmar.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- Si algo falla, se aborta completa.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9BB0C3B-0D13-4C96-83A8-9ED391BF0B9F}"/>
              </a:ext>
            </a:extLst>
          </p:cNvPr>
          <p:cNvSpPr>
            <a:spLocks noGrp="1"/>
          </p:cNvSpPr>
          <p:nvPr/>
        </p:nvSpPr>
        <p:spPr>
          <a:xfrm>
            <a:off x="9220200" y="2800350"/>
            <a:ext cx="2000250" cy="2362200"/>
          </a:xfrm>
          <a:prstGeom prst="roundRect">
            <a:avLst>
              <a:gd name="adj" fmla="val 7619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49467A-41AC-4371-8A58-FAC94867734B}"/>
              </a:ext>
            </a:extLst>
          </p:cNvPr>
          <p:cNvSpPr>
            <a:spLocks noGrp="1"/>
          </p:cNvSpPr>
          <p:nvPr/>
        </p:nvSpPr>
        <p:spPr>
          <a:xfrm>
            <a:off x="9410700" y="3048000"/>
            <a:ext cx="16383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- El cliente revisa su historial.</a:t>
            </a:r>
          </a:p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- Ve fecha, sucursal, total y detalle.</a:t>
            </a:r>
          </a:p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- Aporta trazabilidad funcional en la demo.</a:t>
            </a:r>
          </a:p>
        </p:txBody>
      </p:sp>
    </p:spTree>
    <p:extLst>
      <p:ext uri="{BB962C8B-B14F-4D97-AF65-F5344CB8AC3E}">
        <p14:creationId xmlns:p14="http://schemas.microsoft.com/office/powerpoint/2010/main" val="1116678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F9A9555-8323-4EAA-ABC3-49CB944450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F0E0C2"/>
          </a:solidFill>
          <a:ln w="0">
            <a:solidFill>
              <a:srgbClr val="F0E0C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D3505A-BA75-4200-AC7F-B03E00A8FD09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14288"/>
          </a:xfrm>
          <a:prstGeom prst="rect">
            <a:avLst/>
          </a:prstGeom>
          <a:solidFill>
            <a:srgbClr val="D5DCE3"/>
          </a:solidFill>
          <a:ln w="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4BA54-CEDC-48B3-A805-E95FBE1D39D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LIBRE MERCADO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B57A5A-C41E-49BC-ADAD-1A4FD22A553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Venta distribuida con ACID y rollback total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4AE57A-4945-4F6A-8FAC-CF57C84C82A1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800850" cy="4210050"/>
          </a:xfrm>
          <a:prstGeom prst="roundRect">
            <a:avLst>
              <a:gd name="adj" fmla="val 3620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42AEB-88F8-4FE5-8C2F-B6E1B562DF16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Secuencia de la venta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73E2E0-854B-498F-82A2-2D022A2F92F7}"/>
              </a:ext>
            </a:extLst>
          </p:cNvPr>
          <p:cNvSpPr>
            <a:spLocks noGrp="1"/>
          </p:cNvSpPr>
          <p:nvPr/>
        </p:nvSpPr>
        <p:spPr>
          <a:xfrm>
            <a:off x="933450" y="2362200"/>
            <a:ext cx="61150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- 1. Se recibe cliente, sucursal y productos.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- 2. Se registra PREPARED en distributed_transactions.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- 3. Se abren transacciones en Nodo 1 y Nodo 3.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- 4. Se verifica stock disponible por sucursal.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- 5. Se descuenta stock y se crea venta + detalle.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- 6. Si todo esta correcto, ambos nodos hacen COMMIT.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- 7. Si cualquier paso falla, ambos nodos hacen ROLLBACK.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945DD0-867D-488A-9221-AE6A20070509}"/>
              </a:ext>
            </a:extLst>
          </p:cNvPr>
          <p:cNvSpPr>
            <a:spLocks noGrp="1"/>
          </p:cNvSpPr>
          <p:nvPr/>
        </p:nvSpPr>
        <p:spPr>
          <a:xfrm>
            <a:off x="7848600" y="1695450"/>
            <a:ext cx="3657600" cy="1981200"/>
          </a:xfrm>
          <a:prstGeom prst="roundRect">
            <a:avLst>
              <a:gd name="adj" fmla="val 7692"/>
            </a:avLst>
          </a:prstGeom>
          <a:solidFill>
            <a:srgbClr val="DCEEE6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ECF01-CA45-4EBD-968E-0E86402DF7FC}"/>
              </a:ext>
            </a:extLst>
          </p:cNvPr>
          <p:cNvSpPr>
            <a:spLocks noGrp="1"/>
          </p:cNvSpPr>
          <p:nvPr/>
        </p:nvSpPr>
        <p:spPr>
          <a:xfrm>
            <a:off x="8096250" y="1943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F2937"/>
                </a:solidFill>
              </a:defRPr>
            </a:pPr>
            <a:r>
              <a:rPr sz="1650" b="1">
                <a:solidFill>
                  <a:srgbClr val="1F2937"/>
                </a:solidFill>
              </a:rPr>
              <a:t>ACID en lenguaje simple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52D4C-A65A-43CC-9BFD-A42E3177173C}"/>
              </a:ext>
            </a:extLst>
          </p:cNvPr>
          <p:cNvSpPr>
            <a:spLocks noGrp="1"/>
          </p:cNvSpPr>
          <p:nvPr/>
        </p:nvSpPr>
        <p:spPr>
          <a:xfrm>
            <a:off x="8096250" y="2481263"/>
            <a:ext cx="29146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 dirty="0">
                <a:solidFill>
                  <a:srgbClr val="52606D"/>
                </a:solidFill>
              </a:rPr>
              <a:t>- </a:t>
            </a:r>
            <a:r>
              <a:rPr sz="1275" dirty="0" err="1">
                <a:solidFill>
                  <a:srgbClr val="52606D"/>
                </a:solidFill>
              </a:rPr>
              <a:t>Atomicidad</a:t>
            </a:r>
            <a:r>
              <a:rPr sz="1275" dirty="0">
                <a:solidFill>
                  <a:srgbClr val="52606D"/>
                </a:solidFill>
              </a:rPr>
              <a:t>: </a:t>
            </a:r>
            <a:r>
              <a:rPr sz="1275" dirty="0" err="1">
                <a:solidFill>
                  <a:srgbClr val="52606D"/>
                </a:solidFill>
              </a:rPr>
              <a:t>todo</a:t>
            </a:r>
            <a:r>
              <a:rPr sz="1275" dirty="0">
                <a:solidFill>
                  <a:srgbClr val="52606D"/>
                </a:solidFill>
              </a:rPr>
              <a:t> o nada.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 dirty="0">
                <a:solidFill>
                  <a:srgbClr val="52606D"/>
                </a:solidFill>
              </a:rPr>
              <a:t>- </a:t>
            </a:r>
            <a:r>
              <a:rPr sz="1275" dirty="0" err="1">
                <a:solidFill>
                  <a:srgbClr val="52606D"/>
                </a:solidFill>
              </a:rPr>
              <a:t>Consistencia</a:t>
            </a:r>
            <a:r>
              <a:rPr sz="1275" dirty="0">
                <a:solidFill>
                  <a:srgbClr val="52606D"/>
                </a:solidFill>
              </a:rPr>
              <a:t>: </a:t>
            </a:r>
            <a:r>
              <a:rPr sz="1275" dirty="0" err="1">
                <a:solidFill>
                  <a:srgbClr val="52606D"/>
                </a:solidFill>
              </a:rPr>
              <a:t>nunca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queda</a:t>
            </a:r>
            <a:r>
              <a:rPr sz="1275" dirty="0">
                <a:solidFill>
                  <a:srgbClr val="52606D"/>
                </a:solidFill>
              </a:rPr>
              <a:t> stock </a:t>
            </a:r>
            <a:r>
              <a:rPr sz="1275" dirty="0" err="1">
                <a:solidFill>
                  <a:srgbClr val="52606D"/>
                </a:solidFill>
              </a:rPr>
              <a:t>negativo</a:t>
            </a:r>
            <a:r>
              <a:rPr sz="1275" dirty="0">
                <a:solidFill>
                  <a:srgbClr val="52606D"/>
                </a:solidFill>
              </a:rPr>
              <a:t>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 dirty="0">
                <a:solidFill>
                  <a:srgbClr val="52606D"/>
                </a:solidFill>
              </a:rPr>
              <a:t>- </a:t>
            </a:r>
            <a:r>
              <a:rPr sz="1275" dirty="0" err="1">
                <a:solidFill>
                  <a:srgbClr val="52606D"/>
                </a:solidFill>
              </a:rPr>
              <a:t>Aislamiento</a:t>
            </a:r>
            <a:r>
              <a:rPr sz="1275" dirty="0">
                <a:solidFill>
                  <a:srgbClr val="52606D"/>
                </a:solidFill>
              </a:rPr>
              <a:t>: </a:t>
            </a:r>
            <a:r>
              <a:rPr sz="1275" dirty="0" err="1">
                <a:solidFill>
                  <a:srgbClr val="52606D"/>
                </a:solidFill>
              </a:rPr>
              <a:t>una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venta</a:t>
            </a:r>
            <a:r>
              <a:rPr sz="1275" dirty="0">
                <a:solidFill>
                  <a:srgbClr val="52606D"/>
                </a:solidFill>
              </a:rPr>
              <a:t> no </a:t>
            </a:r>
            <a:r>
              <a:rPr sz="1275" dirty="0" err="1">
                <a:solidFill>
                  <a:srgbClr val="52606D"/>
                </a:solidFill>
              </a:rPr>
              <a:t>pisa</a:t>
            </a:r>
            <a:r>
              <a:rPr sz="1275" dirty="0">
                <a:solidFill>
                  <a:srgbClr val="52606D"/>
                </a:solidFill>
              </a:rPr>
              <a:t> a </a:t>
            </a:r>
            <a:r>
              <a:rPr sz="1275" dirty="0" err="1">
                <a:solidFill>
                  <a:srgbClr val="52606D"/>
                </a:solidFill>
              </a:rPr>
              <a:t>otra</a:t>
            </a:r>
            <a:r>
              <a:rPr sz="1275" dirty="0">
                <a:solidFill>
                  <a:srgbClr val="52606D"/>
                </a:solidFill>
              </a:rPr>
              <a:t>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 dirty="0">
                <a:solidFill>
                  <a:srgbClr val="52606D"/>
                </a:solidFill>
              </a:rPr>
              <a:t>- </a:t>
            </a:r>
            <a:r>
              <a:rPr sz="1275" dirty="0" err="1">
                <a:solidFill>
                  <a:srgbClr val="52606D"/>
                </a:solidFill>
              </a:rPr>
              <a:t>Durabilidad</a:t>
            </a:r>
            <a:r>
              <a:rPr sz="1275" dirty="0">
                <a:solidFill>
                  <a:srgbClr val="52606D"/>
                </a:solidFill>
              </a:rPr>
              <a:t>: lo </a:t>
            </a:r>
            <a:r>
              <a:rPr sz="1275" dirty="0" err="1">
                <a:solidFill>
                  <a:srgbClr val="52606D"/>
                </a:solidFill>
              </a:rPr>
              <a:t>confirmado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persiste</a:t>
            </a:r>
            <a:r>
              <a:rPr sz="1275" dirty="0">
                <a:solidFill>
                  <a:srgbClr val="52606D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3951AE-F326-4784-9E29-BD03B2D51C47}"/>
              </a:ext>
            </a:extLst>
          </p:cNvPr>
          <p:cNvSpPr>
            <a:spLocks noGrp="1"/>
          </p:cNvSpPr>
          <p:nvPr/>
        </p:nvSpPr>
        <p:spPr>
          <a:xfrm>
            <a:off x="7848600" y="4171950"/>
            <a:ext cx="3657600" cy="1981200"/>
          </a:xfrm>
          <a:prstGeom prst="roundRect">
            <a:avLst>
              <a:gd name="adj" fmla="val 7692"/>
            </a:avLst>
          </a:prstGeom>
          <a:solidFill>
            <a:srgbClr val="F5E3E0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A15A91-E35D-4165-9863-CF69615AF1B4}"/>
              </a:ext>
            </a:extLst>
          </p:cNvPr>
          <p:cNvSpPr>
            <a:spLocks noGrp="1"/>
          </p:cNvSpPr>
          <p:nvPr/>
        </p:nvSpPr>
        <p:spPr>
          <a:xfrm>
            <a:off x="8096250" y="4171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F2937"/>
                </a:solidFill>
              </a:defRPr>
            </a:pPr>
            <a:r>
              <a:rPr sz="1650" b="1">
                <a:solidFill>
                  <a:srgbClr val="1F2937"/>
                </a:solidFill>
              </a:rPr>
              <a:t>Como demostrar el rollback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23B688-5D5C-4F0B-9B66-372E0B921C32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29146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52606D"/>
                </a:solidFill>
              </a:defRPr>
            </a:pPr>
            <a:r>
              <a:rPr sz="1275" dirty="0">
                <a:solidFill>
                  <a:srgbClr val="52606D"/>
                </a:solidFill>
              </a:rPr>
              <a:t>- </a:t>
            </a:r>
            <a:r>
              <a:rPr sz="1275" dirty="0" err="1">
                <a:solidFill>
                  <a:srgbClr val="52606D"/>
                </a:solidFill>
              </a:rPr>
              <a:t>Provocas</a:t>
            </a:r>
            <a:r>
              <a:rPr sz="1275" dirty="0">
                <a:solidFill>
                  <a:srgbClr val="52606D"/>
                </a:solidFill>
              </a:rPr>
              <a:t> un error </a:t>
            </a:r>
            <a:r>
              <a:rPr sz="1275" dirty="0" err="1">
                <a:solidFill>
                  <a:srgbClr val="52606D"/>
                </a:solidFill>
              </a:rPr>
              <a:t>en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el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nodo</a:t>
            </a:r>
            <a:r>
              <a:rPr sz="1275" dirty="0">
                <a:solidFill>
                  <a:srgbClr val="52606D"/>
                </a:solidFill>
              </a:rPr>
              <a:t> de stock.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 dirty="0">
                <a:solidFill>
                  <a:srgbClr val="52606D"/>
                </a:solidFill>
              </a:rPr>
              <a:t>- La </a:t>
            </a:r>
            <a:r>
              <a:rPr sz="1275" dirty="0" err="1">
                <a:solidFill>
                  <a:srgbClr val="52606D"/>
                </a:solidFill>
              </a:rPr>
              <a:t>venta</a:t>
            </a:r>
            <a:r>
              <a:rPr sz="1275" dirty="0">
                <a:solidFill>
                  <a:srgbClr val="52606D"/>
                </a:solidFill>
              </a:rPr>
              <a:t> no se </a:t>
            </a:r>
            <a:r>
              <a:rPr sz="1275" dirty="0" err="1">
                <a:solidFill>
                  <a:srgbClr val="52606D"/>
                </a:solidFill>
              </a:rPr>
              <a:t>registra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como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confirmada</a:t>
            </a:r>
            <a:r>
              <a:rPr sz="1275" dirty="0">
                <a:solidFill>
                  <a:srgbClr val="52606D"/>
                </a:solidFill>
              </a:rPr>
              <a:t>.</a:t>
            </a:r>
          </a:p>
          <a:p>
            <a:pPr>
              <a:defRPr sz="1275">
                <a:solidFill>
                  <a:srgbClr val="52606D"/>
                </a:solidFill>
              </a:defRPr>
            </a:pPr>
            <a:r>
              <a:rPr sz="1275" dirty="0">
                <a:solidFill>
                  <a:srgbClr val="52606D"/>
                </a:solidFill>
              </a:rPr>
              <a:t>- El stock </a:t>
            </a:r>
            <a:r>
              <a:rPr sz="1275" dirty="0" err="1">
                <a:solidFill>
                  <a:srgbClr val="52606D"/>
                </a:solidFill>
              </a:rPr>
              <a:t>queda</a:t>
            </a:r>
            <a:r>
              <a:rPr sz="1275" dirty="0">
                <a:solidFill>
                  <a:srgbClr val="52606D"/>
                </a:solidFill>
              </a:rPr>
              <a:t> </a:t>
            </a:r>
            <a:r>
              <a:rPr sz="1275" dirty="0" err="1">
                <a:solidFill>
                  <a:srgbClr val="52606D"/>
                </a:solidFill>
              </a:rPr>
              <a:t>intacto</a:t>
            </a:r>
            <a:r>
              <a:rPr sz="1275" dirty="0">
                <a:solidFill>
                  <a:srgbClr val="52606D"/>
                </a:solidFill>
              </a:rPr>
              <a:t> y la </a:t>
            </a:r>
            <a:r>
              <a:rPr sz="1275" dirty="0" err="1">
                <a:solidFill>
                  <a:srgbClr val="52606D"/>
                </a:solidFill>
              </a:rPr>
              <a:t>transaccion</a:t>
            </a:r>
            <a:r>
              <a:rPr sz="1275" dirty="0">
                <a:solidFill>
                  <a:srgbClr val="52606D"/>
                </a:solidFill>
              </a:rPr>
              <a:t> termina ABORTED.</a:t>
            </a:r>
          </a:p>
        </p:txBody>
      </p:sp>
    </p:spTree>
    <p:extLst>
      <p:ext uri="{BB962C8B-B14F-4D97-AF65-F5344CB8AC3E}">
        <p14:creationId xmlns:p14="http://schemas.microsoft.com/office/powerpoint/2010/main" val="104224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556411-E703-418F-B619-2C7749FE32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F0E0C2"/>
          </a:solidFill>
          <a:ln w="0">
            <a:solidFill>
              <a:srgbClr val="F0E0C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33ECD9-4B6F-4A7B-A089-8E52D24AF2FC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14288"/>
          </a:xfrm>
          <a:prstGeom prst="rect">
            <a:avLst/>
          </a:prstGeom>
          <a:solidFill>
            <a:srgbClr val="D5DCE3"/>
          </a:solidFill>
          <a:ln w="0">
            <a:solidFill>
              <a:srgbClr val="D5D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B604D-7982-4140-86DF-90C6358DC441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F4E79"/>
                </a:solidFill>
              </a:defRPr>
            </a:pPr>
            <a:r>
              <a:rPr sz="900" b="1">
                <a:solidFill>
                  <a:srgbClr val="1F4E79"/>
                </a:solidFill>
              </a:rPr>
              <a:t>LIBRE MERCADO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04AFA-AC5A-4130-901A-B7210B16A18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CAP: por que elegimos CP ante una particion de red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7C852D-1F79-4D85-B776-E907ADBBB2C8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048000" cy="4210050"/>
          </a:xfrm>
          <a:prstGeom prst="roundRect">
            <a:avLst>
              <a:gd name="adj" fmla="val 5000"/>
            </a:avLst>
          </a:prstGeom>
          <a:solidFill>
            <a:srgbClr val="D8EDF7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CC78E-B1C2-4975-A589-959A8B443C0B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114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550" b="1">
                <a:solidFill>
                  <a:srgbClr val="1F4E79"/>
                </a:solidFill>
              </a:defRPr>
            </a:pPr>
            <a:r>
              <a:rPr sz="5550" b="1">
                <a:solidFill>
                  <a:srgbClr val="1F4E79"/>
                </a:solidFill>
              </a:rPr>
              <a:t>CP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3DDD45-E11B-4EC5-A078-16F322943C23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Consistency + Partition Tolerance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EA83BC-A04A-499C-B2DB-16259853DC6B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20764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En un e-commerce academico, inventario y ventas correctas importan mas que seguir vendiendo con datos inconsistentes.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F6B456-A46B-4BB4-8303-400604F50118}"/>
              </a:ext>
            </a:extLst>
          </p:cNvPr>
          <p:cNvSpPr>
            <a:spLocks noGrp="1"/>
          </p:cNvSpPr>
          <p:nvPr/>
        </p:nvSpPr>
        <p:spPr>
          <a:xfrm>
            <a:off x="4095750" y="1695450"/>
            <a:ext cx="7410450" cy="1885950"/>
          </a:xfrm>
          <a:prstGeom prst="roundRect">
            <a:avLst>
              <a:gd name="adj" fmla="val 8081"/>
            </a:avLst>
          </a:prstGeom>
          <a:solidFill>
            <a:srgbClr val="FFFDFC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F8FF77-C254-4CF0-9BD4-BF25FF81934A}"/>
              </a:ext>
            </a:extLst>
          </p:cNvPr>
          <p:cNvSpPr>
            <a:spLocks noGrp="1"/>
          </p:cNvSpPr>
          <p:nvPr/>
        </p:nvSpPr>
        <p:spPr>
          <a:xfrm>
            <a:off x="4362450" y="1943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Que priorizamos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25BCB8-08D3-4B7F-AE0F-71070C227E43}"/>
              </a:ext>
            </a:extLst>
          </p:cNvPr>
          <p:cNvSpPr>
            <a:spLocks noGrp="1"/>
          </p:cNvSpPr>
          <p:nvPr/>
        </p:nvSpPr>
        <p:spPr>
          <a:xfrm>
            <a:off x="4362450" y="2362200"/>
            <a:ext cx="66294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Consistencia: el stock y la venta deben coincidir entre nodos.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Tolerancia a particiones: si la red se corta, el sistema detecta el problema.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No permitimos una venta parcial que deje datos divergentes.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C7FEDD-AF59-441A-B26E-9BD324B0CEDA}"/>
              </a:ext>
            </a:extLst>
          </p:cNvPr>
          <p:cNvSpPr>
            <a:spLocks noGrp="1"/>
          </p:cNvSpPr>
          <p:nvPr/>
        </p:nvSpPr>
        <p:spPr>
          <a:xfrm>
            <a:off x="4095750" y="3829050"/>
            <a:ext cx="7410450" cy="2076450"/>
          </a:xfrm>
          <a:prstGeom prst="roundRect">
            <a:avLst>
              <a:gd name="adj" fmla="val 7339"/>
            </a:avLst>
          </a:prstGeom>
          <a:solidFill>
            <a:srgbClr val="ECF1F5"/>
          </a:solidFill>
          <a:ln w="11430">
            <a:solidFill>
              <a:srgbClr val="D5DCE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C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4D186E-CD44-4252-B642-5383D0EB46D1}"/>
              </a:ext>
            </a:extLst>
          </p:cNvPr>
          <p:cNvSpPr>
            <a:spLocks noGrp="1"/>
          </p:cNvSpPr>
          <p:nvPr/>
        </p:nvSpPr>
        <p:spPr>
          <a:xfrm>
            <a:off x="4362450" y="3895725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F2937"/>
                </a:solidFill>
              </a:defRPr>
            </a:pPr>
            <a:r>
              <a:rPr sz="1800" b="1" dirty="0" err="1">
                <a:solidFill>
                  <a:srgbClr val="1F2937"/>
                </a:solidFill>
              </a:rPr>
              <a:t>Que</a:t>
            </a:r>
            <a:r>
              <a:rPr sz="1800" b="1" dirty="0">
                <a:solidFill>
                  <a:srgbClr val="1F2937"/>
                </a:solidFill>
              </a:rPr>
              <a:t> </a:t>
            </a:r>
            <a:r>
              <a:rPr sz="1800" b="1" dirty="0" err="1">
                <a:solidFill>
                  <a:srgbClr val="1F2937"/>
                </a:solidFill>
              </a:rPr>
              <a:t>sacrificamos</a:t>
            </a:r>
            <a:endParaRPr sz="1800" b="1" dirty="0">
              <a:solidFill>
                <a:srgbClr val="1F2937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93547-1FCD-4734-B2D2-D5B1064EC76B}"/>
              </a:ext>
            </a:extLst>
          </p:cNvPr>
          <p:cNvSpPr>
            <a:spLocks noGrp="1"/>
          </p:cNvSpPr>
          <p:nvPr/>
        </p:nvSpPr>
        <p:spPr>
          <a:xfrm>
            <a:off x="4362450" y="4495800"/>
            <a:ext cx="66294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Sacrificamos disponibilidad: si el nodo de stock no responde, la venta se cancela.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Eso es intencional, porque vender sin stock confirmado seria inconsistente.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- La recuperacion ocurre reintentando cuando el nodo vuelve a estar disponible.</a:t>
            </a:r>
          </a:p>
        </p:txBody>
      </p:sp>
    </p:spTree>
    <p:extLst>
      <p:ext uri="{BB962C8B-B14F-4D97-AF65-F5344CB8AC3E}">
        <p14:creationId xmlns:p14="http://schemas.microsoft.com/office/powerpoint/2010/main" val="11605121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DocSecurity>0</DocSecurity>
  <PresentationFormat>Widescreen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Sebastian Adolfo Galleguillos Toledo</cp:lastModifiedBy>
  <cp:revision>1</cp:revision>
  <dcterms:created xsi:type="dcterms:W3CDTF">2026-06-18T15:46:44Z</dcterms:created>
  <dcterms:modified xsi:type="dcterms:W3CDTF">2026-06-18T17:06:47Z</dcterms:modified>
</cp:coreProperties>
</file>