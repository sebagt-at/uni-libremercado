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2af38df9c9467f" /><Relationship Type="http://schemas.openxmlformats.org/officeDocument/2006/relationships/extended-properties" Target="/docProps/app.xml" Id="R8a730e0f2fa9403c" /><Relationship Type="http://schemas.openxmlformats.org/officeDocument/2006/relationships/officeDocument" Target="/ppt/presentation.xml" Id="R019fac8d977f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1294a4380f450a"/>
  </p:sldMasterIdLst>
  <p:notesMasterIdLst>
    <p:notesMasterId xmlns:r="http://schemas.openxmlformats.org/officeDocument/2006/relationships" r:id="R036be7cc052849d8"/>
  </p:notesMasterIdLst>
  <p:sldIdLst>
    <p:sldId xmlns:r="http://schemas.openxmlformats.org/officeDocument/2006/relationships" id="256" r:id="R2ffd323b56004e71"/>
    <p:sldId xmlns:r="http://schemas.openxmlformats.org/officeDocument/2006/relationships" id="257" r:id="R4955485c24d64719"/>
    <p:sldId xmlns:r="http://schemas.openxmlformats.org/officeDocument/2006/relationships" id="258" r:id="R0d04abc1801b4697"/>
    <p:sldId xmlns:r="http://schemas.openxmlformats.org/officeDocument/2006/relationships" id="259" r:id="R4bca8cebcd404638"/>
    <p:sldId xmlns:r="http://schemas.openxmlformats.org/officeDocument/2006/relationships" id="260" r:id="R2e5a73a7332a41ce"/>
    <p:sldId xmlns:r="http://schemas.openxmlformats.org/officeDocument/2006/relationships" id="261" r:id="R5db15390d15d4516"/>
    <p:sldId xmlns:r="http://schemas.openxmlformats.org/officeDocument/2006/relationships" id="262" r:id="Re5a1aed9c0a045d6"/>
    <p:sldId xmlns:r="http://schemas.openxmlformats.org/officeDocument/2006/relationships" id="263" r:id="Rc14bf61a85664418"/>
    <p:sldId xmlns:r="http://schemas.openxmlformats.org/officeDocument/2006/relationships" id="264" r:id="R8c55c0f5fdc943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caa79b2a544939" /><Relationship Type="http://schemas.openxmlformats.org/officeDocument/2006/relationships/slideMaster" Target="/ppt/slideMasters/slideMaster1.xml" Id="Rad1294a4380f450a" /><Relationship Type="http://schemas.openxmlformats.org/officeDocument/2006/relationships/notesMaster" Target="/ppt/notesMasters/notesMaster1.xml" Id="R036be7cc052849d8" /><Relationship Type="http://schemas.openxmlformats.org/officeDocument/2006/relationships/presProps" Target="/ppt/presProps.xml" Id="Rcd3d3ca544f94f9e" /><Relationship Type="http://schemas.openxmlformats.org/officeDocument/2006/relationships/tableStyles" Target="/ppt/tableStyles.xml" Id="R5e9e93ae82ca48d9" /><Relationship Type="http://schemas.openxmlformats.org/officeDocument/2006/relationships/slide" Target="/ppt/slides/slide1.xml" Id="R2ffd323b56004e71" /><Relationship Type="http://schemas.openxmlformats.org/officeDocument/2006/relationships/slide" Target="/ppt/slides/slide2.xml" Id="R4955485c24d64719" /><Relationship Type="http://schemas.openxmlformats.org/officeDocument/2006/relationships/slide" Target="/ppt/slides/slide3.xml" Id="R0d04abc1801b4697" /><Relationship Type="http://schemas.openxmlformats.org/officeDocument/2006/relationships/slide" Target="/ppt/slides/slide4.xml" Id="R4bca8cebcd404638" /><Relationship Type="http://schemas.openxmlformats.org/officeDocument/2006/relationships/slide" Target="/ppt/slides/slide5.xml" Id="R2e5a73a7332a41ce" /><Relationship Type="http://schemas.openxmlformats.org/officeDocument/2006/relationships/slide" Target="/ppt/slides/slide6.xml" Id="R5db15390d15d4516" /><Relationship Type="http://schemas.openxmlformats.org/officeDocument/2006/relationships/slide" Target="/ppt/slides/slide7.xml" Id="Re5a1aed9c0a045d6" /><Relationship Type="http://schemas.openxmlformats.org/officeDocument/2006/relationships/slide" Target="/ppt/slides/slide8.xml" Id="Rc14bf61a85664418" /><Relationship Type="http://schemas.openxmlformats.org/officeDocument/2006/relationships/slide" Target="/ppt/slides/slide9.xml" Id="R8c55c0f5fdc943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864426f90748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19013cdb2147a1" /><Relationship Type="http://schemas.openxmlformats.org/officeDocument/2006/relationships/notesMaster" Target="/ppt/notesMasters/notesMaster1.xml" Id="R76ff668f8a2a45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7b92bf1ec84975" /><Relationship Type="http://schemas.openxmlformats.org/officeDocument/2006/relationships/notesMaster" Target="/ppt/notesMasters/notesMaster1.xml" Id="Rb4827f6a297248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ce57f0614348fb" /><Relationship Type="http://schemas.openxmlformats.org/officeDocument/2006/relationships/notesMaster" Target="/ppt/notesMasters/notesMaster1.xml" Id="R95f2b9ea94e14d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98e12664964540" /><Relationship Type="http://schemas.openxmlformats.org/officeDocument/2006/relationships/notesMaster" Target="/ppt/notesMasters/notesMaster1.xml" Id="R891e0a46007045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c973ff9f5342b8" /><Relationship Type="http://schemas.openxmlformats.org/officeDocument/2006/relationships/notesMaster" Target="/ppt/notesMasters/notesMaster1.xml" Id="R973d8994f9c244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f49ca79a9f402a" /><Relationship Type="http://schemas.openxmlformats.org/officeDocument/2006/relationships/notesMaster" Target="/ppt/notesMasters/notesMaster1.xml" Id="Rd6ce69ccbaed4a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936141ecbb498d" /><Relationship Type="http://schemas.openxmlformats.org/officeDocument/2006/relationships/notesMaster" Target="/ppt/notesMasters/notesMaster1.xml" Id="R103344094c4a41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4189da18f9425f" /><Relationship Type="http://schemas.openxmlformats.org/officeDocument/2006/relationships/notesMaster" Target="/ppt/notesMasters/notesMaster1.xml" Id="R868d0236659b48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4af74361884af5" /><Relationship Type="http://schemas.openxmlformats.org/officeDocument/2006/relationships/notesMaster" Target="/ppt/notesMasters/notesMaster1.xml" Id="R6e311015f5a8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5b79b853c4a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ba907c399f4b01" /><Relationship Type="http://schemas.openxmlformats.org/officeDocument/2006/relationships/slideLayout" Target="/ppt/slideLayouts/slideLayout1.xml" Id="Rb9227285f0d14b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227285f0d14b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1fa9bae284c63" /><Relationship Type="http://schemas.openxmlformats.org/officeDocument/2006/relationships/notesSlide" Target="/ppt/notesSlides/notesSlide1.xml" Id="Rc61cf0a858f24a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af24bf8ed418f" /><Relationship Type="http://schemas.openxmlformats.org/officeDocument/2006/relationships/notesSlide" Target="/ppt/notesSlides/notesSlide2.xml" Id="Ra348213f1a6241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7a17553cc450f" /><Relationship Type="http://schemas.openxmlformats.org/officeDocument/2006/relationships/notesSlide" Target="/ppt/notesSlides/notesSlide3.xml" Id="Rcfaac94e5a8046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cccc4077a4d0c" /><Relationship Type="http://schemas.openxmlformats.org/officeDocument/2006/relationships/notesSlide" Target="/ppt/notesSlides/notesSlide4.xml" Id="R1410bcbdcbbf44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e1aaaee924f30" /><Relationship Type="http://schemas.openxmlformats.org/officeDocument/2006/relationships/notesSlide" Target="/ppt/notesSlides/notesSlide5.xml" Id="R70500b60ae604a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acc2275e24c5e" /><Relationship Type="http://schemas.openxmlformats.org/officeDocument/2006/relationships/notesSlide" Target="/ppt/notesSlides/notesSlide6.xml" Id="Rf3709b2fa30e49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ae6b114ef42c8" /><Relationship Type="http://schemas.openxmlformats.org/officeDocument/2006/relationships/notesSlide" Target="/ppt/notesSlides/notesSlide7.xml" Id="Re03df831e5af4a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facd337e74527" /><Relationship Type="http://schemas.openxmlformats.org/officeDocument/2006/relationships/notesSlide" Target="/ppt/notesSlides/notesSlide8.xml" Id="Rc623b607adb841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9c7d8003f404a" /><Relationship Type="http://schemas.openxmlformats.org/officeDocument/2006/relationships/notesSlide" Target="/ppt/notesSlides/notesSlide9.xml" Id="R7696c912b7874a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A0CF9-60FE-43A2-B881-AA332896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FBF8F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CB01C-7461-4A87-9541-2109182A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23950"/>
            <a:ext cx="4000500" cy="44767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CDA16-1731-48D5-B9ED-2CC32343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2742"/>
                </a:solidFill>
              </a:defRPr>
            </a:pPr>
            <a:r>
              <a:rPr sz="1800" b="1">
                <a:solidFill>
                  <a:srgbClr val="0F2742"/>
                </a:solidFill>
              </a:rPr>
              <a:t>TALLER SISTEMAS DISTRIBUIDOS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2AD43-6C1C-44B3-B605-AAA190A8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B5E8A"/>
                </a:solidFill>
              </a:defRPr>
            </a:pPr>
            <a:r>
              <a:rPr sz="1275">
                <a:solidFill>
                  <a:srgbClr val="1B5E8A"/>
                </a:solidFill>
              </a:rPr>
              <a:t>Tercera evaluacion: transacciones distribuidas, fallos y despliegue 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98FE6-D267-476B-8777-ECB5D4C3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2742"/>
                </a:solidFill>
              </a:defRPr>
            </a:pPr>
            <a:r>
              <a:rPr sz="3900" b="1">
                <a:solidFill>
                  <a:srgbClr val="0F2742"/>
                </a:solidFill>
              </a:rPr>
              <a:t>Libre Mercado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8F9C9-160B-4FDF-98AE-8058606F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F5D73"/>
                </a:solidFill>
              </a:defRPr>
            </a:pPr>
            <a:r>
              <a:rPr sz="1650">
                <a:solidFill>
                  <a:srgbClr val="4F5D73"/>
                </a:solidFill>
              </a:rPr>
              <a:t>Sistema distribuido en PHP que coordina compras, ventas y stock entre un nodo central y tres sucursales, con procedimientos almacenados, AJAX y politica CP.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0F7F2-28D6-45B0-A9AE-922E7972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8115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5E8A"/>
          </a:solidFill>
          <a:ln xmlns:a="http://schemas.openxmlformats.org/drawingml/2006/main" w="9525">
            <a:solidFill>
              <a:srgbClr val="1B5E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366F3-B849-4813-9981-995B61B0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145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6435F-EBD8-4CE5-8B8F-68D42C26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336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Nodos 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9ED12-A22C-4EFF-9F98-C9D76977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D8C8C"/>
          </a:solidFill>
          <a:ln xmlns:a="http://schemas.openxmlformats.org/drawingml/2006/main" w="9525">
            <a:solidFill>
              <a:srgbClr val="2D8C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F975A-4DAC-47D1-9BCE-55262422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145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E76DF-810C-4A56-8609-51FE07C1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CRUD listos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E8515-8F78-4FAB-841C-297A83E1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0035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4A017"/>
          </a:solidFill>
          <a:ln xmlns:a="http://schemas.openxmlformats.org/drawingml/2006/main" w="9525">
            <a:solidFill>
              <a:srgbClr val="D4A0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34161-57BD-46A8-866D-604F70F8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ACID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E89AC-B86D-4908-BAEF-624D081C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528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Venta coordinada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7CC31-80B4-4BB6-B772-23D2DF08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81ABB-39A2-49F7-9660-6D4767B2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337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B3A8D-90A8-4AF5-B269-BED3BD0F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5280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CAP elegido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1182F-E2D5-49D9-BE3B-E65F1358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0670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2D5E62-22C1-4EB0-B402-BACF7B8C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Mensaje central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AB631-7FC0-4843-ACA7-76F9173B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Si una sucursal falla, solo esa sucursal deja de vender.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Las demas siguen operando.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Se protege la integridad del stock antes que vender inconsistente.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AC2DE4-2A43-4BA3-9164-C3FAD954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D73"/>
                </a:solidFill>
              </a:defRPr>
            </a:pPr>
            <a:r>
              <a:rPr sz="1350">
                <a:solidFill>
                  <a:srgbClr val="4F5D73"/>
                </a:solidFill>
              </a:rPr>
              <a:t>Entorno: Docker para nodos, XAMPP como alternativa local, Git y cliente DB para inspeccion.</a:t>
            </a:r>
          </a:p>
        </p:txBody>
      </p:sp>
    </p:spTree>
    <p:extLst>
      <p:ext uri="{BB962C8B-B14F-4D97-AF65-F5344CB8AC3E}">
        <p14:creationId xmlns:p14="http://schemas.microsoft.com/office/powerpoint/2010/main" val="1802967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182FE0-6444-4391-A6E9-237CFDE2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solidFill>
              <a:srgbClr val="0F274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BE01F-7F2A-46B7-A6B1-5FC658AC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EBDD"/>
                </a:solidFill>
              </a:defRPr>
            </a:pPr>
            <a:r>
              <a:rPr sz="1050" b="1">
                <a:solidFill>
                  <a:srgbClr val="F2EBDD"/>
                </a:solidFill>
              </a:rPr>
              <a:t>LIBRE MERCADO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95B85-E81B-49C7-AF07-BDCF53A4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Que exige la tercera evaluacion y como se cubre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A90D2-1314-4790-84B0-D5948C45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DD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8CE86-863E-455C-8269-BDD09363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E4504-6882-454E-9750-96394184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Exigencias del documento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ECC7C-2CB3-40F6-934A-899C0A84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5339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Compra distribuida entre sucursales.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Transacciones distribuidas con rollback total.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Procedimientos almacenados en MySQL.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Simulacion de caida y recuperacion de nodos.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PHP + AJAX como capa cliente-servidor.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Justificacion tecnica del modelo CAP.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7CB86-959C-49FD-A42E-2AFF1AF6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5638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2793F-F11B-4C6F-9D76-AFF439F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6690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Cobertura en el proyecto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1A1D4-FFB8-4243-9593-6B2A4A7E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52197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Panel de nodos para marcar ONLINE / OFFLINE.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Checkout AJAX desde el flujo del cliente.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sp_realizar_compra, sp_actualizar_stock y sp_reconstruir_stock.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distributed_transactions para PREPARED / COMMITTED / ABORTED.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Docker Compose para simular LAN y multiples servicios.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README y documento de arquitectura para la defensa.</a:t>
            </a:r>
          </a:p>
        </p:txBody>
      </p:sp>
    </p:spTree>
    <p:extLst>
      <p:ext uri="{BB962C8B-B14F-4D97-AF65-F5344CB8AC3E}">
        <p14:creationId xmlns:p14="http://schemas.microsoft.com/office/powerpoint/2010/main" val="1615417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B7E9B1-1D04-42A8-8EA4-5765996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solidFill>
              <a:srgbClr val="0F274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C51F8-1293-4CC2-A2E2-CDE61D7F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EBDD"/>
                </a:solidFill>
              </a:defRPr>
            </a:pPr>
            <a:r>
              <a:rPr sz="1050" b="1">
                <a:solidFill>
                  <a:srgbClr val="F2EBDD"/>
                </a:solidFill>
              </a:rPr>
              <a:t>LIBRE MERCADO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3109B-B5FB-4ECE-B6EE-F45BEA6E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Arquitectura LAN: coordinador, nodo central y sucursales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E4D34-7993-4F7A-9718-ADB73339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DD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45EC-63C9-4702-9C6E-10654B6D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F5D73"/>
                </a:solidFill>
              </a:defRPr>
            </a:pPr>
            <a:r>
              <a:rPr sz="1500">
                <a:solidFill>
                  <a:srgbClr val="4F5D73"/>
                </a:solidFill>
              </a:rPr>
              <a:t>La aplicacion PHP expone la web en LAN y coordina cuatro bases de datos separadas. Cada sucursal conserva su operacion local.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247C2-DC31-445D-BA29-FE2D362E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D51EE-9197-45C3-971B-53AABFB4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2742"/>
                </a:solidFill>
              </a:defRPr>
            </a:pPr>
            <a:r>
              <a:rPr sz="1800" b="1">
                <a:solidFill>
                  <a:srgbClr val="0F2742"/>
                </a:solidFill>
              </a:rPr>
              <a:t>Nodo Central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BBC9D-4314-4F59-A2C3-B63D73A4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B5E8A"/>
                </a:solidFill>
              </a:defRPr>
            </a:pPr>
            <a:r>
              <a:rPr sz="1200">
                <a:solidFill>
                  <a:srgbClr val="1B5E8A"/>
                </a:solidFill>
              </a:rPr>
              <a:t>Base: libre_mercado_central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982B8-F80B-4B22-BB11-E8D64DC4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productos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sucursales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usuarios y clientes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proveedores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ventas y detalle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node_status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tx distribuidas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E7FB0-1067-40E8-ABB1-4FC870CA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F4532-E37A-4AC4-8695-341E938E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28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2742"/>
                </a:solidFill>
              </a:defRPr>
            </a:pPr>
            <a:r>
              <a:rPr sz="1800" b="1">
                <a:solidFill>
                  <a:srgbClr val="0F2742"/>
                </a:solidFill>
              </a:rPr>
              <a:t>Sucursal Norte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8AF42-9387-48D7-8443-75A79367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52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B5E8A"/>
                </a:solidFill>
              </a:defRPr>
            </a:pPr>
            <a:r>
              <a:rPr sz="1200">
                <a:solidFill>
                  <a:srgbClr val="1B5E8A"/>
                </a:solidFill>
              </a:rPr>
              <a:t>Base: libre_mercado_norte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7C4E8-3CC7-4CCC-837D-F1E95062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3375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stock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carrito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detalle_carrito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compras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detalle_compras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stock_movimientos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BA4BD-6C40-478D-8921-E628FF21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2DE0A-5148-4A45-8210-D8C86D58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2742"/>
                </a:solidFill>
              </a:defRPr>
            </a:pPr>
            <a:r>
              <a:rPr sz="1800" b="1">
                <a:solidFill>
                  <a:srgbClr val="0F2742"/>
                </a:solidFill>
              </a:rPr>
              <a:t>Sucursal Centro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FE12F-1B24-4C10-9E4D-4B51FC3F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B5E8A"/>
                </a:solidFill>
              </a:defRPr>
            </a:pPr>
            <a:r>
              <a:rPr sz="1200">
                <a:solidFill>
                  <a:srgbClr val="1B5E8A"/>
                </a:solidFill>
              </a:rPr>
              <a:t>Base: libre_mercado_centro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1CBDA-1B07-49AA-828B-652FAD89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stock local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carrito local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compras locales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historial de movimientos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25FCF-D528-40C8-A3B6-54AE8A87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37C16-9EE5-4D67-BC4A-84E9D26C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2742"/>
                </a:solidFill>
              </a:defRPr>
            </a:pPr>
            <a:r>
              <a:rPr sz="1800" b="1">
                <a:solidFill>
                  <a:srgbClr val="0F2742"/>
                </a:solidFill>
              </a:rPr>
              <a:t>Sucursal Sur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59444-4957-464F-AAFE-27EBE3EF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B5E8A"/>
                </a:solidFill>
              </a:defRPr>
            </a:pPr>
            <a:r>
              <a:rPr sz="1200">
                <a:solidFill>
                  <a:srgbClr val="1B5E8A"/>
                </a:solidFill>
              </a:rPr>
              <a:t>Base: libre_mercado_sur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27015-C930-4024-A455-99DB62A9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stock local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carrito local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compras locales</a:t>
            </a:r>
          </a:p>
          <a:p xmlns:a="http://schemas.openxmlformats.org/drawingml/2006/main">
            <a:pPr>
              <a:defRPr sz="1125">
                <a:solidFill>
                  <a:srgbClr val="1E293B"/>
                </a:solidFill>
              </a:defRPr>
            </a:pPr>
            <a:r>
              <a:rPr sz="1125">
                <a:solidFill>
                  <a:srgbClr val="1E293B"/>
                </a:solidFill>
              </a:rPr>
              <a:t>- historial de movimientos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42516-12A2-4532-A94B-E45D2E5B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D73"/>
                </a:solidFill>
              </a:defRPr>
            </a:pPr>
            <a:r>
              <a:rPr sz="1350">
                <a:solidFill>
                  <a:srgbClr val="4F5D73"/>
                </a:solidFill>
              </a:rPr>
              <a:t>Despliegue LAN: otros equipos entran por navegador a http://IP_DEL_HOST:8080 mientras Docker mantiene separados web y nodos.</a:t>
            </a:r>
          </a:p>
        </p:txBody>
      </p:sp>
    </p:spTree>
    <p:extLst>
      <p:ext uri="{BB962C8B-B14F-4D97-AF65-F5344CB8AC3E}">
        <p14:creationId xmlns:p14="http://schemas.microsoft.com/office/powerpoint/2010/main" val="919324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E3F46D-841C-4FAF-9B6E-6F0C8792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solidFill>
              <a:srgbClr val="0F274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2230A-5847-40D8-95B2-CBA90940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EBDD"/>
                </a:solidFill>
              </a:defRPr>
            </a:pPr>
            <a:r>
              <a:rPr sz="1050" b="1">
                <a:solidFill>
                  <a:srgbClr val="F2EBDD"/>
                </a:solidFill>
              </a:rPr>
              <a:t>LIBRE MERCADO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8E4A5-8E03-4999-9E68-6CDF0FEA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CRUD, reglas de negocio y seguridad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FAF26-7E33-4B6E-8103-8C44FDD4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DD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C5D91-1D3A-4CD4-972D-17C5F687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810000" cy="421005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8C499-8DF1-4545-8083-981EA13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CRUD cubiertos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3A9E3-1D41-49BB-929E-E17A57CF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33909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Productos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Usuarios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Clientes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Sucursales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Stock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Proveedores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Compras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Carritos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Ventas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FE894-A020-4110-B2B3-DF709F25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76400"/>
            <a:ext cx="3352800" cy="42100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161FE-ACB5-4950-95BD-0D4579F0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669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Reglas clave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DFF0D-7ECF-4554-BB31-EB77F48F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47900"/>
            <a:ext cx="29337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Productos y usuarios usan borrado logico.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Stock depende de producto + sucursal.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Compras incrementan inventario local.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Ventas descuentan inventario local.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Las tablas detalle dejan trazabilidad.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Preparacion / commit / abort se registran centralmente.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16DAA-6EB3-4557-9200-FECBA9E4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3200400" cy="42100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2A449-84E4-4C4B-84B1-B308DCF3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669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Seguridad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73FA9-3D83-41FA-826F-C722E509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27813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password_hash() y password_verify().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Sesiones por rol ADMIN / CLIENTE.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PDO con prepared statements.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Validaciones de formularios.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Separacion MVC simple.</a:t>
            </a:r>
          </a:p>
        </p:txBody>
      </p:sp>
    </p:spTree>
    <p:extLst>
      <p:ext uri="{BB962C8B-B14F-4D97-AF65-F5344CB8AC3E}">
        <p14:creationId xmlns:p14="http://schemas.microsoft.com/office/powerpoint/2010/main" val="370933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15ACB2-7CBA-4321-9C8B-6F6FF145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solidFill>
              <a:srgbClr val="0F274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085DC-9842-4711-9C7E-57FCDEA1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EBDD"/>
                </a:solidFill>
              </a:defRPr>
            </a:pPr>
            <a:r>
              <a:rPr sz="1050" b="1">
                <a:solidFill>
                  <a:srgbClr val="F2EBDD"/>
                </a:solidFill>
              </a:rPr>
              <a:t>LIBRE MERCADO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40E3C-99EC-4AA6-BB1D-6DE656EF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Flujo del cliente con PHP + AJAX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CEC19-2DAA-4538-AFCE-C23F5DB4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DD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A4CDF-8491-473F-B03D-4776D941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39243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39948-4BFB-4584-97F9-230B0EB5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19300"/>
            <a:ext cx="161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EAF4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3FC74-F587-4622-AB3F-72106833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2742"/>
                </a:solidFill>
              </a:defRPr>
            </a:pPr>
            <a:r>
              <a:rPr sz="1275" b="1">
                <a:solidFill>
                  <a:srgbClr val="0F2742"/>
                </a:solidFill>
              </a:rPr>
              <a:t>1. 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90711-7BD6-44B0-A5FC-8138676F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19300"/>
            <a:ext cx="2000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EAF4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66C26-1F2E-43CE-9A12-79183B7C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145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2742"/>
                </a:solidFill>
              </a:defRPr>
            </a:pPr>
            <a:r>
              <a:rPr sz="1275" b="1">
                <a:solidFill>
                  <a:srgbClr val="0F2742"/>
                </a:solidFill>
              </a:rPr>
              <a:t>2. Carrito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F3900-E9FE-4C52-A012-39BA171E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2190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EAF4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5ACB5-5E28-4626-B6A4-9D8A4428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2742"/>
                </a:solidFill>
              </a:defRPr>
            </a:pPr>
            <a:r>
              <a:rPr sz="1275" b="1">
                <a:solidFill>
                  <a:srgbClr val="0F2742"/>
                </a:solidFill>
              </a:rPr>
              <a:t>3. Checkout AJAX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79FEE-C89E-43DF-B6E4-5615437E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2286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EAF4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EBCC4-F72D-4286-98C1-80FBF970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2742"/>
                </a:solidFill>
              </a:defRPr>
            </a:pPr>
            <a:r>
              <a:rPr sz="1275" b="1">
                <a:solidFill>
                  <a:srgbClr val="0F2742"/>
                </a:solidFill>
              </a:rPr>
              <a:t>4. Mis compras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F91B8-F878-40D9-B344-8D326EDA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1314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Nodo central valida usuario y rol.</a:t>
            </a:r>
          </a:p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Se abre sesion segura.</a:t>
            </a:r>
          </a:p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El dashboard cambia segun ADMIN o CLIENTE.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4EDE6-2DD9-492B-97A4-784382D8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48000"/>
            <a:ext cx="1504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El cliente trabaja solo con sus carritos.</a:t>
            </a:r>
          </a:p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Selecciona sucursal de trabajo.</a:t>
            </a:r>
          </a:p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Define productos y cantidades.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F9F56-1825-446B-A62A-7B514376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48000"/>
            <a:ext cx="17335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El formulario llama api/checkout.php.</a:t>
            </a:r>
          </a:p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La respuesta vuelve en JSON.</a:t>
            </a:r>
          </a:p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Si la sucursal esta OFFLINE, el checkout se bloquea.</a:t>
            </a:r>
          </a:p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Si esta ONLINE, confirma y redirige.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EFA22-F7E4-4752-9B28-35183E52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1809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El cliente revisa ventas propias.</a:t>
            </a:r>
          </a:p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Puede mostrar fecha, sucursal, total y detalle.</a:t>
            </a:r>
          </a:p>
          <a:p xmlns:a="http://schemas.openxmlformats.org/drawingml/2006/main">
            <a:pPr>
              <a:defRPr sz="1275">
                <a:solidFill>
                  <a:srgbClr val="1E293B"/>
                </a:solidFill>
              </a:defRPr>
            </a:pPr>
            <a:r>
              <a:rPr sz="1275">
                <a:solidFill>
                  <a:srgbClr val="1E293B"/>
                </a:solidFill>
              </a:rPr>
              <a:t>- Eso sirve como evidencia de trazabilidad funcional.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E58D6-1789-437D-B299-41561124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D73"/>
                </a:solidFill>
              </a:defRPr>
            </a:pPr>
            <a:r>
              <a:rPr sz="1350">
                <a:solidFill>
                  <a:srgbClr val="4F5D73"/>
                </a:solidFill>
              </a:rPr>
              <a:t>AJAX no reemplaza la logica distribuida: solo mejora la experiencia y permite demostrar un flujo cliente-servidor moderno en la evaluacion.</a:t>
            </a:r>
          </a:p>
        </p:txBody>
      </p:sp>
    </p:spTree>
    <p:extLst>
      <p:ext uri="{BB962C8B-B14F-4D97-AF65-F5344CB8AC3E}">
        <p14:creationId xmlns:p14="http://schemas.microsoft.com/office/powerpoint/2010/main" val="636680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955133-566B-465F-89FD-000B7DD6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solidFill>
              <a:srgbClr val="0F274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52C3B-56B8-496B-8BF2-68505A9C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EBDD"/>
                </a:solidFill>
              </a:defRPr>
            </a:pPr>
            <a:r>
              <a:rPr sz="1050" b="1">
                <a:solidFill>
                  <a:srgbClr val="F2EBDD"/>
                </a:solidFill>
              </a:rPr>
              <a:t>LIBRE MERCADO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C1FC7-8B85-4BDD-8369-CC46DC66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Stored procedures, ACID y Two-Phase Commit simplificado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33A2E-F447-4FA7-8A3C-5EADB21C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DD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427A5-1097-4F44-B8F0-82011004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43250" cy="42100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A7E50-82A3-4116-82C9-EED1CB55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Procedimientos almacenados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212FE-11D8-4138-AEA2-4F6B054D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7241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sp_registrar_venta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sp_registrar_detalle_venta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sp_actualizar_total_venta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sp_realizar_compra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sp_actualizar_stock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sp_reconstruir_stock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sp_set_node_status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0CCFA-E988-4851-9EBE-CA791F7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76400"/>
            <a:ext cx="3714750" cy="42100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7F206-C0DF-43D9-95CB-53CB5962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66900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Secuencia distribuida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2557B-F45E-4324-A553-C0458C63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32956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- 1. El backend registra PREPARED.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- 2. Se abren transacciones en nodo central y nodo sucursal.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- 3. El stored procedure de sucursal valida y descuenta stock.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- 4. El central registra venta y detalle.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- 5. Si todo sale bien: COMMITTED.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- 6. Si algo falla: rollback y ABORTED.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9DA8A-7E8E-4C48-BAC3-A9EA9B56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5052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1B83F-F8D3-4455-BF7E-058CA36F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ACID en simple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00F53-93EB-480E-94C0-CDE7CDBE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Atomicidad: la venta completa o no existe.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Consistencia: no se vende sin stock valido.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Aislamiento: una operacion no deja estados parciales visibles.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Durabilidad: el commit persiste en InnoDB.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2B8FD-DD77-40D1-B9AC-C931A687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5052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D2E12-0BA1-4A73-BD5D-0FEAA0CB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A017"/>
                </a:solidFill>
              </a:defRPr>
            </a:pPr>
            <a:r>
              <a:rPr sz="1650" b="1">
                <a:solidFill>
                  <a:srgbClr val="D4A017"/>
                </a:solidFill>
              </a:rPr>
              <a:t>2PC simplificado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EC673-9C19-4CC0-A788-1D0D4674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3086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PREPARED en distributed_transactions.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COMMIT doble cuando ambos nodos responden.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ABORTED y reconstruccion si una etapa falla.</a:t>
            </a:r>
          </a:p>
        </p:txBody>
      </p:sp>
    </p:spTree>
    <p:extLst>
      <p:ext uri="{BB962C8B-B14F-4D97-AF65-F5344CB8AC3E}">
        <p14:creationId xmlns:p14="http://schemas.microsoft.com/office/powerpoint/2010/main" val="1894125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9B95D-A917-4F3F-874C-3FAA6932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solidFill>
              <a:srgbClr val="0F274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26E99-220D-4038-890C-CE2DFB18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EBDD"/>
                </a:solidFill>
              </a:defRPr>
            </a:pPr>
            <a:r>
              <a:rPr sz="1050" b="1">
                <a:solidFill>
                  <a:srgbClr val="F2EBDD"/>
                </a:solidFill>
              </a:rPr>
              <a:t>LIBRE MERCADO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B9906-9F0C-4B97-8573-890DB35E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Falla de nodos, rollback y recuperacion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79474-B11E-4DF9-9092-223783CC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DD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AE114-53A1-460F-B122-BD68B563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952750" cy="42100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34476-77C4-4606-B5BF-E1027698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2742"/>
                </a:solidFill>
              </a:defRPr>
            </a:pPr>
            <a:r>
              <a:rPr sz="1800" b="1">
                <a:solidFill>
                  <a:srgbClr val="0F2742"/>
                </a:solidFill>
              </a:rPr>
              <a:t>Escenario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65FDC-6AC1-4019-96BA-C58BDBEB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E293B"/>
                </a:solidFill>
              </a:defRPr>
            </a:pPr>
            <a:r>
              <a:rPr sz="1425">
                <a:solidFill>
                  <a:srgbClr val="1E293B"/>
                </a:solidFill>
              </a:rPr>
              <a:t>Desde nodos.php el admin puede marcar una sucursal OFFLINE. Eso simula particion o indisponibilidad local.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CC07D-F4E9-4F4D-9A84-4F708DE3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62828"/>
                </a:solidFill>
              </a:defRPr>
            </a:pPr>
            <a:r>
              <a:rPr sz="1425" b="1">
                <a:solidFill>
                  <a:srgbClr val="C62828"/>
                </a:solidFill>
              </a:rPr>
              <a:t>Resultado esperado:</a:t>
            </a:r>
          </a:p>
          <a:p xmlns:a="http://schemas.openxmlformats.org/drawingml/2006/main">
            <a:pPr>
              <a:defRPr sz="1425" b="1">
                <a:solidFill>
                  <a:srgbClr val="C62828"/>
                </a:solidFill>
              </a:defRPr>
            </a:pPr>
            <a:r>
              <a:rPr sz="1425" b="1">
                <a:solidFill>
                  <a:srgbClr val="C62828"/>
                </a:solidFill>
              </a:rPr>
              <a:t>solo se bloquean compras hacia esa sucursal.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DCA42-757E-492E-9145-6AED8231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95450"/>
            <a:ext cx="3695700" cy="421005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B6AF7-D254-4220-9342-44B6A63E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85950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Como demuestras rollback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89AD3-648B-47B0-8B54-0AE9CEF0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66950"/>
            <a:ext cx="32766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Intentas comprar usando la sucursal marcada OFFLINE.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El backend detecta el estado del nodo antes de vender.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La venta queda cancelada.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No aparece commit confirmado.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El stock no se altera.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La transaccion queda ABORTED o no llega a confirmarse.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B9F55-4619-450D-B9BB-43EB76CC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95450"/>
            <a:ext cx="35623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F3587-B861-4E3B-899E-048B19B2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Recuperacion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545E0-52FD-4865-8590-E3730EAC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El admin vuelve a dejar la sucursal ONLINE.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Si hubo una operacion abortada tras descontar, sp_reconstruir_stock recompone el inventario.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Luego se puede reintentar la compra.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0C201-0386-4022-BDAE-A5E0D912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5623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7F9EB-009F-4BF8-BFF6-89BD3AD8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A017"/>
                </a:solidFill>
              </a:defRPr>
            </a:pPr>
            <a:r>
              <a:rPr sz="1650" b="1">
                <a:solidFill>
                  <a:srgbClr val="D4A017"/>
                </a:solidFill>
              </a:rPr>
              <a:t>Mensaje para la defensa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8B9BE-C5F9-42EE-A9C2-3BF9A9EE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95800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La gracia no es que nunca falle.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La gracia es fallar de forma controlada, consistente y recuperable.</a:t>
            </a:r>
          </a:p>
        </p:txBody>
      </p:sp>
    </p:spTree>
    <p:extLst>
      <p:ext uri="{BB962C8B-B14F-4D97-AF65-F5344CB8AC3E}">
        <p14:creationId xmlns:p14="http://schemas.microsoft.com/office/powerpoint/2010/main" val="1227836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EA8EE-AA2C-4194-B246-BA147786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2"/>
          </a:solidFill>
          <a:ln xmlns:a="http://schemas.openxmlformats.org/drawingml/2006/main" w="0">
            <a:solidFill>
              <a:srgbClr val="0F274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9776E-9D21-4BDA-996A-3137CA39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EBDD"/>
                </a:solidFill>
              </a:defRPr>
            </a:pPr>
            <a:r>
              <a:rPr sz="1050" b="1">
                <a:solidFill>
                  <a:srgbClr val="F2EBDD"/>
                </a:solidFill>
              </a:rPr>
              <a:t>LIBRE MERCADO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17CFE-6FE7-451D-A844-69E20F8E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CAP, CP y despliegue en 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007DC-19C2-47D2-BE0B-A55992DD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D8DD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92168-8E1D-4CE0-9C50-6ED260F8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476500" cy="42100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2D96E-2278-45BB-96A0-C51B7E79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9BBB6-52E0-4761-806C-48BE6D0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2EBDD"/>
                </a:solidFill>
              </a:defRPr>
            </a:pPr>
            <a:r>
              <a:rPr sz="1500">
                <a:solidFill>
                  <a:srgbClr val="F2EBDD"/>
                </a:solidFill>
              </a:rPr>
              <a:t>Consistency + Partition Tolerance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F21F2-E492-436A-8B39-F67FAC1C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752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Preferimos bloquear una venta antes que dejar stock y ventas divergentes.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0E1D1-0370-42CA-B142-DBD06806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95450"/>
            <a:ext cx="37338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62D63-AA10-436E-9890-DCE7C271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8595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Que priorizamos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8AB63-0F56-4F4E-98BB-46F9D8BA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66950"/>
            <a:ext cx="331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Consistencia entre venta central y stock local.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Tolerancia a particiones: una sucursal puede quedar aislada.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Aislamiento del problema: una sucursal caida no tumba a las otras.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F6C5F-7114-41F4-B8FB-B920B924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29050"/>
            <a:ext cx="37338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F0D5C-80AE-4ECB-A91F-11CCE96D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955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Que sacrificamos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8C0F5-95BD-4472-A5F1-B8EF44CB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00550"/>
            <a:ext cx="33147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Disponibilidad de la sucursal afectada.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Si una sede esta OFFLINE, esa sede deja de vender temporalmente.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Es una decision intencional y justificable academicamente.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CB64E-628B-4DE5-A28A-7C52FD68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95450"/>
            <a:ext cx="4000500" cy="42100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304B3-3DAC-43D3-AFFB-994106FB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742"/>
                </a:solidFill>
              </a:defRPr>
            </a:pPr>
            <a:r>
              <a:rPr sz="1650" b="1">
                <a:solidFill>
                  <a:srgbClr val="0F2742"/>
                </a:solidFill>
              </a:rPr>
              <a:t>Como se publica en 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98B9B-E372-465F-B3F9-CDF68AEE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66950"/>
            <a:ext cx="35814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Docker Compose levanta web y bases por separado.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Solo se expone la web en el puerto 8080.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Otros equipos entran por http://IP_DEL_HOST:8080.</a:t>
            </a:r>
          </a:p>
          <a:p xmlns:a="http://schemas.openxmlformats.org/drawingml/2006/main"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- XAMPP queda como alternativa local, no como topologia principal.</a:t>
            </a:r>
          </a:p>
        </p:txBody>
      </p:sp>
    </p:spTree>
    <p:extLst>
      <p:ext uri="{BB962C8B-B14F-4D97-AF65-F5344CB8AC3E}">
        <p14:creationId xmlns:p14="http://schemas.microsoft.com/office/powerpoint/2010/main" val="6980040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D7C00E-AF3D-4896-93CD-B2D266BE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76300"/>
            <a:ext cx="10172700" cy="510540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55F90-D19E-4296-8E6B-9F2B2FF2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428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2742"/>
                </a:solidFill>
              </a:defRPr>
            </a:pPr>
            <a:r>
              <a:rPr sz="1800" b="1">
                <a:solidFill>
                  <a:srgbClr val="0F2742"/>
                </a:solidFill>
              </a:rP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2BFA1-162E-4247-BC38-E56890AD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097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2742"/>
                </a:solidFill>
              </a:defRPr>
            </a:pPr>
            <a:r>
              <a:rPr sz="2550" b="1">
                <a:solidFill>
                  <a:srgbClr val="0F2742"/>
                </a:solidFill>
              </a:rPr>
              <a:t>Libre Mercado queda listo para una defensa tecnica clara, visible y demostrable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A64E5-B81E-4EFA-BB9D-864FEB69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685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B"/>
                </a:solidFill>
              </a:defRPr>
            </a:pPr>
            <a:r>
              <a:rPr sz="1575">
                <a:solidFill>
                  <a:srgbClr val="1E293B"/>
                </a:solidFill>
              </a:rPr>
              <a:t>- Arquitectura distribuida con nodo central + tres sucursales.</a:t>
            </a:r>
          </a:p>
          <a:p xmlns:a="http://schemas.openxmlformats.org/drawingml/2006/main">
            <a:pPr>
              <a:defRPr sz="1575">
                <a:solidFill>
                  <a:srgbClr val="1E293B"/>
                </a:solidFill>
              </a:defRPr>
            </a:pPr>
            <a:r>
              <a:rPr sz="1575">
                <a:solidFill>
                  <a:srgbClr val="1E293B"/>
                </a:solidFill>
              </a:rPr>
              <a:t>- CRUD completos y reglas de negocio reales.</a:t>
            </a:r>
          </a:p>
          <a:p xmlns:a="http://schemas.openxmlformats.org/drawingml/2006/main">
            <a:pPr>
              <a:defRPr sz="1575">
                <a:solidFill>
                  <a:srgbClr val="1E293B"/>
                </a:solidFill>
              </a:defRPr>
            </a:pPr>
            <a:r>
              <a:rPr sz="1575">
                <a:solidFill>
                  <a:srgbClr val="1E293B"/>
                </a:solidFill>
              </a:rPr>
              <a:t>- PHP + AJAX para el flujo cliente-servidor.</a:t>
            </a:r>
          </a:p>
          <a:p xmlns:a="http://schemas.openxmlformats.org/drawingml/2006/main">
            <a:pPr>
              <a:defRPr sz="1575">
                <a:solidFill>
                  <a:srgbClr val="1E293B"/>
                </a:solidFill>
              </a:defRPr>
            </a:pPr>
            <a:r>
              <a:rPr sz="1575">
                <a:solidFill>
                  <a:srgbClr val="1E293B"/>
                </a:solidFill>
              </a:rPr>
              <a:t>- Stored procedures para compra, stock y recuperacion.</a:t>
            </a:r>
          </a:p>
          <a:p xmlns:a="http://schemas.openxmlformats.org/drawingml/2006/main">
            <a:pPr>
              <a:defRPr sz="1575">
                <a:solidFill>
                  <a:srgbClr val="1E293B"/>
                </a:solidFill>
              </a:defRPr>
            </a:pPr>
            <a:r>
              <a:rPr sz="1575">
                <a:solidFill>
                  <a:srgbClr val="1E293B"/>
                </a:solidFill>
              </a:rPr>
              <a:t>- ACID y 2PC simplificado con evidencia en distributed_transactions.</a:t>
            </a:r>
          </a:p>
          <a:p xmlns:a="http://schemas.openxmlformats.org/drawingml/2006/main">
            <a:pPr>
              <a:defRPr sz="1575">
                <a:solidFill>
                  <a:srgbClr val="1E293B"/>
                </a:solidFill>
              </a:defRPr>
            </a:pPr>
            <a:r>
              <a:rPr sz="1575">
                <a:solidFill>
                  <a:srgbClr val="1E293B"/>
                </a:solidFill>
              </a:rPr>
              <a:t>- CAP de tipo CP con bloqueo por sucursal afectada.</a:t>
            </a:r>
          </a:p>
          <a:p xmlns:a="http://schemas.openxmlformats.org/drawingml/2006/main">
            <a:pPr>
              <a:defRPr sz="1575">
                <a:solidFill>
                  <a:srgbClr val="1E293B"/>
                </a:solidFill>
              </a:defRPr>
            </a:pPr>
            <a:r>
              <a:rPr sz="1575">
                <a:solidFill>
                  <a:srgbClr val="1E293B"/>
                </a:solidFill>
              </a:rPr>
              <a:t>- Despliegue accesible por LAN para que otros prueben la pagina.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D3E1C-9A1F-4209-A2B6-6DB13427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33550"/>
            <a:ext cx="1524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B5E8A"/>
          </a:solidFill>
          <a:ln xmlns:a="http://schemas.openxmlformats.org/drawingml/2006/main" w="9525">
            <a:solidFill>
              <a:srgbClr val="1B5E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462C1-9CE5-4555-9CCA-5AFB8E08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386F7-1CB4-4259-BF83-0E586011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Acceso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76ADA-FF0E-43B2-A844-42CAC6CE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1524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2D8C8C"/>
          </a:solidFill>
          <a:ln xmlns:a="http://schemas.openxmlformats.org/drawingml/2006/main" w="9525">
            <a:solidFill>
              <a:srgbClr val="2D8C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1B22D-7C7F-47A2-9DA7-4F85FED7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08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ACID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2BD86-0E48-4EA6-9836-7DDDED96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099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Rollback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948E9-480E-46B2-9A94-DB96B2C0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1524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F2742"/>
          </a:solidFill>
          <a:ln xmlns:a="http://schemas.openxmlformats.org/drawingml/2006/main" w="9525">
            <a:solidFill>
              <a:srgbClr val="0F2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97B0B-8E60-49B5-9815-7AF63341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148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0A89D-91AF-4675-B80F-6D388F81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339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Consistencia primero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3316C-9B85-4B22-BB00-5E03E2DE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5D73"/>
                </a:solidFill>
              </a:defRPr>
            </a:pPr>
            <a:r>
              <a:rPr sz="1200">
                <a:solidFill>
                  <a:srgbClr val="4F5D73"/>
                </a:solidFill>
              </a:rPr>
              <a:t>Frase final sugerida: el sistema no solo funciona cuando todo esta sano; tambien responde correctamente cuando una sucursal falla.</a:t>
            </a:r>
          </a:p>
        </p:txBody>
      </p:sp>
    </p:spTree>
    <p:extLst>
      <p:ext uri="{BB962C8B-B14F-4D97-AF65-F5344CB8AC3E}">
        <p14:creationId xmlns:p14="http://schemas.microsoft.com/office/powerpoint/2010/main" val="837626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2026-06-25T11:40:34.4620000Z</dcterms:created>
  <dcterms:modified xsi:type="dcterms:W3CDTF">2026-06-25T11:40:34.4620000Z</dcterms:modified>
</coreProperties>
</file>